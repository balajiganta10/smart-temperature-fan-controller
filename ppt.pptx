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384" r:id="rId2"/>
    <p:sldId id="283" r:id="rId3"/>
    <p:sldId id="404" r:id="rId4"/>
    <p:sldId id="396" r:id="rId5"/>
    <p:sldId id="397" r:id="rId6"/>
    <p:sldId id="398" r:id="rId7"/>
    <p:sldId id="400" r:id="rId8"/>
    <p:sldId id="406" r:id="rId9"/>
    <p:sldId id="407" r:id="rId10"/>
    <p:sldId id="405" r:id="rId11"/>
    <p:sldId id="408" r:id="rId12"/>
    <p:sldId id="389"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8662ABB-178C-484F-B481-4C69EBE6D3A8}">
          <p14:sldIdLst>
            <p14:sldId id="384"/>
            <p14:sldId id="283"/>
            <p14:sldId id="404"/>
            <p14:sldId id="396"/>
            <p14:sldId id="397"/>
            <p14:sldId id="398"/>
            <p14:sldId id="400"/>
            <p14:sldId id="406"/>
            <p14:sldId id="407"/>
            <p14:sldId id="405"/>
            <p14:sldId id="408"/>
            <p14:sldId id="389"/>
          </p14:sldIdLst>
        </p14:section>
      </p14:sectionLst>
    </p:ext>
    <p:ext uri="{EFAFB233-063F-42B5-8137-9DF3F51BA10A}">
      <p15:sldGuideLst xmlns:p15="http://schemas.microsoft.com/office/powerpoint/2012/main">
        <p15:guide id="1" orient="horz" pos="2256" userDrawn="1">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anoMatEs 015" initials="N0" lastIdx="3" clrIdx="0">
    <p:extLst>
      <p:ext uri="{19B8F6BF-5375-455C-9EA6-DF929625EA0E}">
        <p15:presenceInfo xmlns:p15="http://schemas.microsoft.com/office/powerpoint/2012/main" userId="2b186bc07a38510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990099"/>
    <a:srgbClr val="8100D0"/>
    <a:srgbClr val="FFCC00"/>
    <a:srgbClr val="CCCC00"/>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3333" autoAdjust="0"/>
  </p:normalViewPr>
  <p:slideViewPr>
    <p:cSldViewPr>
      <p:cViewPr varScale="1">
        <p:scale>
          <a:sx n="79" d="100"/>
          <a:sy n="79" d="100"/>
        </p:scale>
        <p:origin x="1003" y="82"/>
      </p:cViewPr>
      <p:guideLst>
        <p:guide orient="horz" pos="2256"/>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308206-8C5D-4357-99E0-892310A2E236}" type="datetimeFigureOut">
              <a:rPr lang="en-IN" smtClean="0"/>
              <a:pPr/>
              <a:t>02-01-2026</a:t>
            </a:fld>
            <a:endParaRPr lang="en-IN"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6A4482-BFEA-481F-83A1-3662A1A202FE}" type="slidenum">
              <a:rPr lang="en-IN" smtClean="0"/>
              <a:pPr/>
              <a:t>‹#›</a:t>
            </a:fld>
            <a:endParaRPr lang="en-IN" dirty="0"/>
          </a:p>
        </p:txBody>
      </p:sp>
    </p:spTree>
    <p:extLst>
      <p:ext uri="{BB962C8B-B14F-4D97-AF65-F5344CB8AC3E}">
        <p14:creationId xmlns:p14="http://schemas.microsoft.com/office/powerpoint/2010/main" val="7651742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76A4482-BFEA-481F-83A1-3662A1A202FE}" type="slidenum">
              <a:rPr lang="en-IN" smtClean="0"/>
              <a:pPr/>
              <a:t>2</a:t>
            </a:fld>
            <a:endParaRPr lang="en-IN" dirty="0"/>
          </a:p>
        </p:txBody>
      </p:sp>
    </p:spTree>
    <p:extLst>
      <p:ext uri="{BB962C8B-B14F-4D97-AF65-F5344CB8AC3E}">
        <p14:creationId xmlns:p14="http://schemas.microsoft.com/office/powerpoint/2010/main" val="2580190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76A4482-BFEA-481F-83A1-3662A1A202FE}" type="slidenum">
              <a:rPr lang="en-IN" smtClean="0"/>
              <a:pPr/>
              <a:t>4</a:t>
            </a:fld>
            <a:endParaRPr lang="en-IN" dirty="0"/>
          </a:p>
        </p:txBody>
      </p:sp>
    </p:spTree>
    <p:extLst>
      <p:ext uri="{BB962C8B-B14F-4D97-AF65-F5344CB8AC3E}">
        <p14:creationId xmlns:p14="http://schemas.microsoft.com/office/powerpoint/2010/main" val="17081679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5" name="Rectangle 5"/>
          <p:cNvSpPr>
            <a:spLocks noGrp="1" noChangeArrowheads="1"/>
          </p:cNvSpPr>
          <p:nvPr>
            <p:ph type="ftr" sz="quarter" idx="11"/>
          </p:nvPr>
        </p:nvSpPr>
        <p:spPr>
          <a:xfrm>
            <a:off x="3124200" y="6400800"/>
            <a:ext cx="3694113" cy="457200"/>
          </a:xfrm>
          <a:prstGeom prst="rect">
            <a:avLst/>
          </a:prstGeom>
        </p:spPr>
        <p:txBody>
          <a:bodyPr/>
          <a:lstStyle>
            <a:lvl1pPr>
              <a:defRPr/>
            </a:lvl1pPr>
          </a:lstStyle>
          <a:p>
            <a:pPr>
              <a:defRPr/>
            </a:pP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1"/>
          </p:nvPr>
        </p:nvSpPr>
        <p:spPr>
          <a:xfrm>
            <a:off x="3124200" y="6400800"/>
            <a:ext cx="3694113" cy="457200"/>
          </a:xfrm>
          <a:prstGeom prst="rect">
            <a:avLst/>
          </a:prstGeom>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xfrm>
            <a:off x="7239000" y="6415088"/>
            <a:ext cx="1905000" cy="314325"/>
          </a:xfrm>
          <a:prstGeom prst="rect">
            <a:avLst/>
          </a:prstGeom>
        </p:spPr>
        <p:txBody>
          <a:bodyPr/>
          <a:lstStyle>
            <a:lvl1pPr>
              <a:defRPr/>
            </a:lvl1pPr>
          </a:lstStyle>
          <a:p>
            <a:pPr>
              <a:defRPr/>
            </a:pPr>
            <a:fld id="{51EDAF45-A1ED-443F-B7DC-99AC8969684E}"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5" name="Rectangle 5"/>
          <p:cNvSpPr>
            <a:spLocks noGrp="1" noChangeArrowheads="1"/>
          </p:cNvSpPr>
          <p:nvPr>
            <p:ph type="ftr" sz="quarter" idx="11"/>
          </p:nvPr>
        </p:nvSpPr>
        <p:spPr>
          <a:xfrm>
            <a:off x="3124200" y="6400800"/>
            <a:ext cx="3694113" cy="457200"/>
          </a:xfrm>
          <a:prstGeom prst="rect">
            <a:avLst/>
          </a:prstGeom>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xfrm>
            <a:off x="7239000" y="6415088"/>
            <a:ext cx="1905000" cy="314325"/>
          </a:xfrm>
          <a:prstGeom prst="rect">
            <a:avLst/>
          </a:prstGeom>
        </p:spPr>
        <p:txBody>
          <a:bodyPr/>
          <a:lstStyle>
            <a:lvl1pPr>
              <a:defRPr/>
            </a:lvl1pPr>
          </a:lstStyle>
          <a:p>
            <a:pPr>
              <a:defRPr/>
            </a:pPr>
            <a:fld id="{7C9E8333-71C2-4DC6-B430-940BC8F3F786}"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Rectangle 5"/>
          <p:cNvSpPr>
            <a:spLocks noGrp="1" noChangeArrowheads="1"/>
          </p:cNvSpPr>
          <p:nvPr>
            <p:ph type="ftr" sz="quarter" idx="11"/>
          </p:nvPr>
        </p:nvSpPr>
        <p:spPr>
          <a:xfrm>
            <a:off x="3124200" y="6400800"/>
            <a:ext cx="3694113" cy="457200"/>
          </a:xfrm>
          <a:prstGeom prst="rect">
            <a:avLst/>
          </a:prstGeom>
        </p:spPr>
        <p:txBody>
          <a:bodyPr/>
          <a:lstStyle>
            <a:lvl1pPr>
              <a:defRPr/>
            </a:lvl1pPr>
          </a:lstStyle>
          <a:p>
            <a:pPr>
              <a:defRPr/>
            </a:pPr>
            <a:endParaRPr lang="en-US" dirty="0"/>
          </a:p>
        </p:txBody>
      </p:sp>
      <p:sp>
        <p:nvSpPr>
          <p:cNvPr id="4" name="Rectangle 6"/>
          <p:cNvSpPr>
            <a:spLocks noGrp="1" noChangeArrowheads="1"/>
          </p:cNvSpPr>
          <p:nvPr>
            <p:ph type="sldNum" sz="quarter" idx="12"/>
          </p:nvPr>
        </p:nvSpPr>
        <p:spPr>
          <a:xfrm>
            <a:off x="7239000" y="6510785"/>
            <a:ext cx="1905000" cy="314325"/>
          </a:xfrm>
          <a:prstGeom prst="rect">
            <a:avLst/>
          </a:prstGeom>
        </p:spPr>
        <p:txBody>
          <a:bodyPr/>
          <a:lstStyle>
            <a:lvl1pPr>
              <a:defRPr sz="1200"/>
            </a:lvl1pPr>
          </a:lstStyle>
          <a:p>
            <a:pPr>
              <a:defRPr/>
            </a:pPr>
            <a:fld id="{CCE60E7C-9340-4E78-8FF1-5B9A5C8058C3}" type="slidenum">
              <a:rPr lang="en-US" smtClean="0"/>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10" descr="PPT values"/>
          <p:cNvPicPr>
            <a:picLocks noChangeAspect="1" noChangeArrowheads="1"/>
          </p:cNvPicPr>
          <p:nvPr/>
        </p:nvPicPr>
        <p:blipFill>
          <a:blip r:embed="rId6" cstate="print"/>
          <a:srcRect/>
          <a:stretch>
            <a:fillRect/>
          </a:stretch>
        </p:blipFill>
        <p:spPr bwMode="auto">
          <a:xfrm>
            <a:off x="2819400" y="6600825"/>
            <a:ext cx="5943600" cy="144463"/>
          </a:xfrm>
          <a:prstGeom prst="rect">
            <a:avLst/>
          </a:prstGeom>
          <a:noFill/>
          <a:ln w="9525">
            <a:noFill/>
            <a:miter lim="800000"/>
            <a:headEnd/>
            <a:tailEnd/>
          </a:ln>
        </p:spPr>
      </p:pic>
      <p:pic>
        <p:nvPicPr>
          <p:cNvPr id="1027" name="Picture 11" descr="PPT inside"/>
          <p:cNvPicPr>
            <a:picLocks noChangeAspect="1" noChangeArrowheads="1"/>
          </p:cNvPicPr>
          <p:nvPr/>
        </p:nvPicPr>
        <p:blipFill>
          <a:blip r:embed="rId7" cstate="print"/>
          <a:srcRect t="19157" b="25415"/>
          <a:stretch>
            <a:fillRect/>
          </a:stretch>
        </p:blipFill>
        <p:spPr bwMode="auto">
          <a:xfrm>
            <a:off x="0" y="0"/>
            <a:ext cx="9145588" cy="688975"/>
          </a:xfrm>
          <a:prstGeom prst="rect">
            <a:avLst/>
          </a:prstGeom>
          <a:noFill/>
          <a:ln w="9525">
            <a:noFill/>
            <a:miter lim="800000"/>
            <a:headEnd/>
            <a:tailEnd/>
          </a:ln>
        </p:spPr>
      </p:pic>
      <p:pic>
        <p:nvPicPr>
          <p:cNvPr id="1031" name="Picture 16"/>
          <p:cNvPicPr>
            <a:picLocks noChangeAspect="1" noChangeArrowheads="1"/>
          </p:cNvPicPr>
          <p:nvPr/>
        </p:nvPicPr>
        <p:blipFill>
          <a:blip r:embed="rId8" cstate="print"/>
          <a:srcRect/>
          <a:stretch>
            <a:fillRect/>
          </a:stretch>
        </p:blipFill>
        <p:spPr bwMode="auto">
          <a:xfrm>
            <a:off x="7733610" y="122454"/>
            <a:ext cx="1242805" cy="432955"/>
          </a:xfrm>
          <a:prstGeom prst="rect">
            <a:avLst/>
          </a:prstGeom>
          <a:noFill/>
          <a:ln w="9525">
            <a:noFill/>
            <a:miter lim="800000"/>
            <a:headEnd/>
            <a:tailEnd/>
          </a:ln>
        </p:spPr>
      </p:pic>
      <p:sp>
        <p:nvSpPr>
          <p:cNvPr id="115721" name="Text Box 9"/>
          <p:cNvSpPr txBox="1">
            <a:spLocks noChangeArrowheads="1"/>
          </p:cNvSpPr>
          <p:nvPr/>
        </p:nvSpPr>
        <p:spPr bwMode="auto">
          <a:xfrm rot="-5400000">
            <a:off x="-2905887" y="3594346"/>
            <a:ext cx="6180074" cy="369332"/>
          </a:xfrm>
          <a:prstGeom prst="rect">
            <a:avLst/>
          </a:prstGeom>
          <a:solidFill>
            <a:srgbClr val="004282"/>
          </a:solidFill>
          <a:ln w="9525" algn="ctr">
            <a:noFill/>
            <a:miter lim="800000"/>
          </a:ln>
          <a:effectLst/>
        </p:spPr>
        <p:txBody>
          <a:bodyPr wrap="square">
            <a:spAutoFit/>
          </a:bodyPr>
          <a:lstStyle/>
          <a:p>
            <a:pPr algn="ctr">
              <a:spcBef>
                <a:spcPct val="50000"/>
              </a:spcBef>
              <a:defRPr/>
            </a:pPr>
            <a:r>
              <a:rPr lang="en-US" sz="1800" b="0" dirty="0">
                <a:solidFill>
                  <a:schemeClr val="bg1"/>
                </a:solidFill>
                <a:latin typeface="+mn-lt"/>
              </a:rPr>
              <a:t>GMR Institute of Technology</a:t>
            </a:r>
            <a:r>
              <a:rPr lang="en-US" sz="1800" b="0" dirty="0">
                <a:solidFill>
                  <a:schemeClr val="bg1"/>
                </a:solidFill>
                <a:latin typeface="Verdana" panose="020B0604030504040204" pitchFamily="34" charset="0"/>
              </a:rPr>
              <a:t> </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2pPr>
      <a:lvl3pPr algn="ctr" rtl="0" eaLnBrk="0" fontAlgn="base" hangingPunct="0">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3pPr>
      <a:lvl4pPr algn="ctr" rtl="0" eaLnBrk="0" fontAlgn="base" hangingPunct="0">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4pPr>
      <a:lvl5pPr algn="ctr" rtl="0" eaLnBrk="0" fontAlgn="base" hangingPunct="0">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5pPr>
      <a:lvl6pPr marL="457200" algn="ctr" rtl="0" fontAlgn="base">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6pPr>
      <a:lvl7pPr marL="914400" algn="ctr" rtl="0" fontAlgn="base">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7pPr>
      <a:lvl8pPr marL="1371600" algn="ctr" rtl="0" fontAlgn="base">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8pPr>
      <a:lvl9pPr marL="1828800" algn="ctr" rtl="0" fontAlgn="base">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a:solidFill>
            <a:schemeClr val="tx1"/>
          </a:solidFill>
          <a:latin typeface="+mn-lt"/>
          <a:ea typeface="+mn-ea"/>
          <a:cs typeface="+mn-cs"/>
        </a:defRPr>
      </a:lvl5pPr>
      <a:lvl6pPr marL="2514600" indent="-228600" algn="l" rtl="0" fontAlgn="base">
        <a:spcBef>
          <a:spcPct val="20000"/>
        </a:spcBef>
        <a:spcAft>
          <a:spcPct val="0"/>
        </a:spcAft>
        <a:buChar char="»"/>
        <a:defRPr sz="2000">
          <a:solidFill>
            <a:schemeClr val="tx1"/>
          </a:solidFill>
          <a:latin typeface="+mn-lt"/>
          <a:ea typeface="+mn-ea"/>
          <a:cs typeface="+mn-cs"/>
        </a:defRPr>
      </a:lvl6pPr>
      <a:lvl7pPr marL="2971800" indent="-228600" algn="l" rtl="0" fontAlgn="base">
        <a:spcBef>
          <a:spcPct val="20000"/>
        </a:spcBef>
        <a:spcAft>
          <a:spcPct val="0"/>
        </a:spcAft>
        <a:buChar char="»"/>
        <a:defRPr sz="2000">
          <a:solidFill>
            <a:schemeClr val="tx1"/>
          </a:solidFill>
          <a:latin typeface="+mn-lt"/>
          <a:ea typeface="+mn-ea"/>
          <a:cs typeface="+mn-cs"/>
        </a:defRPr>
      </a:lvl7pPr>
      <a:lvl8pPr marL="3429000" indent="-228600" algn="l" rtl="0" fontAlgn="base">
        <a:spcBef>
          <a:spcPct val="20000"/>
        </a:spcBef>
        <a:spcAft>
          <a:spcPct val="0"/>
        </a:spcAft>
        <a:buChar char="»"/>
        <a:defRPr sz="2000">
          <a:solidFill>
            <a:schemeClr val="tx1"/>
          </a:solidFill>
          <a:latin typeface="+mn-lt"/>
          <a:ea typeface="+mn-ea"/>
          <a:cs typeface="+mn-cs"/>
        </a:defRPr>
      </a:lvl8pPr>
      <a:lvl9pPr marL="3886200" indent="-228600" algn="l" rtl="0" fontAlgn="base">
        <a:spcBef>
          <a:spcPct val="20000"/>
        </a:spcBef>
        <a:spcAft>
          <a:spcPct val="0"/>
        </a:spcAft>
        <a:buChar char="»"/>
        <a:defRPr sz="20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C310AF8-7D61-423D-932D-8E74B3411444}"/>
              </a:ext>
            </a:extLst>
          </p:cNvPr>
          <p:cNvPicPr>
            <a:picLocks noChangeAspect="1"/>
          </p:cNvPicPr>
          <p:nvPr/>
        </p:nvPicPr>
        <p:blipFill rotWithShape="1">
          <a:blip r:embed="rId2">
            <a:extLst>
              <a:ext uri="{28A0092B-C50C-407E-A947-70E740481C1C}">
                <a14:useLocalDpi xmlns:a14="http://schemas.microsoft.com/office/drawing/2010/main" val="0"/>
              </a:ext>
            </a:extLst>
          </a:blip>
          <a:srcRect l="4167" t="6983" r="2500" b="5501"/>
          <a:stretch/>
        </p:blipFill>
        <p:spPr>
          <a:xfrm>
            <a:off x="1" y="0"/>
            <a:ext cx="9144000" cy="6858000"/>
          </a:xfrm>
          <a:prstGeom prst="rect">
            <a:avLst/>
          </a:prstGeom>
        </p:spPr>
      </p:pic>
      <p:sp>
        <p:nvSpPr>
          <p:cNvPr id="8" name="TextBox 7">
            <a:extLst>
              <a:ext uri="{FF2B5EF4-FFF2-40B4-BE49-F238E27FC236}">
                <a16:creationId xmlns:a16="http://schemas.microsoft.com/office/drawing/2014/main" id="{D88A4982-2341-4603-847D-890BED5F4CAC}"/>
              </a:ext>
            </a:extLst>
          </p:cNvPr>
          <p:cNvSpPr txBox="1"/>
          <p:nvPr/>
        </p:nvSpPr>
        <p:spPr>
          <a:xfrm>
            <a:off x="5715000" y="4343400"/>
            <a:ext cx="3428999" cy="461665"/>
          </a:xfrm>
          <a:prstGeom prst="rect">
            <a:avLst/>
          </a:prstGeom>
          <a:noFill/>
        </p:spPr>
        <p:txBody>
          <a:bodyPr wrap="square" rtlCol="0">
            <a:spAutoFit/>
          </a:bodyPr>
          <a:lstStyle/>
          <a:p>
            <a:r>
              <a:rPr lang="en-US" sz="24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G.B.S.S.BALAJI</a:t>
            </a:r>
            <a:endParaRPr lang="en-IN" sz="24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06024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7239000" y="6400800"/>
            <a:ext cx="1905000" cy="328613"/>
          </a:xfrm>
        </p:spPr>
        <p:txBody>
          <a:bodyPr/>
          <a:lstStyle/>
          <a:p>
            <a:pPr>
              <a:defRPr/>
            </a:pPr>
            <a:r>
              <a:rPr lang="en-US" sz="1200" dirty="0"/>
              <a:t> </a:t>
            </a:r>
            <a:r>
              <a:rPr lang="en-US" sz="1200" b="1" dirty="0">
                <a:latin typeface="Times New Roman" pitchFamily="18" charset="0"/>
                <a:cs typeface="Times New Roman" pitchFamily="18" charset="0"/>
              </a:rPr>
              <a:t>2</a:t>
            </a:r>
            <a:endParaRPr lang="en-US" sz="1200" dirty="0"/>
          </a:p>
        </p:txBody>
      </p:sp>
      <p:sp>
        <p:nvSpPr>
          <p:cNvPr id="5" name="Content Placeholder 4"/>
          <p:cNvSpPr>
            <a:spLocks noGrp="1"/>
          </p:cNvSpPr>
          <p:nvPr>
            <p:ph idx="1"/>
          </p:nvPr>
        </p:nvSpPr>
        <p:spPr>
          <a:xfrm>
            <a:off x="781050" y="1143000"/>
            <a:ext cx="7658100" cy="5281613"/>
          </a:xfrm>
        </p:spPr>
        <p:txBody>
          <a:bodyPr/>
          <a:lstStyle/>
          <a:p>
            <a:pPr marL="0" indent="0" algn="just">
              <a:buNone/>
            </a:pPr>
            <a:r>
              <a:rPr lang="en-US" sz="1800" dirty="0">
                <a:latin typeface="Times New Roman" panose="02020603050405020304" pitchFamily="18" charset="0"/>
                <a:cs typeface="Times New Roman" panose="02020603050405020304" pitchFamily="18" charset="0"/>
              </a:rPr>
              <a:t>This paper presents a simple and affordable solution to improve comfort and energy efficiency in household ceiling fans. In many parts of South India, ceiling fans are widely used instead of air conditioners due to their lower cost and power consumption. However, conventional fans require manual speed adjustment and cannot respond automatically to changes in room temperature. To overcome this limitation, a temperature-based automatic fan speed control system using an Arduino microcontroller is proposed.</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The system continuously measures ambient temperature and humidity using a DHT11/DHT22 sensor. Based on the sensed values, the Arduino controls a servo motor that rotates the knob of a capacitive fan regulator to adjust the fan speed accordingly. As the room temperature increases, the fan speed rises automatically, and as the temperature decreases, the speed is reduced to maintain comfort. The use of a capacitive regulator minimizes heat loss compared to resistive regulators, improving overall energy efficiency. This approach provides a practical, low-cost solution for enhanced comfort and energy savings in everyday household applications.</a:t>
            </a:r>
          </a:p>
        </p:txBody>
      </p:sp>
      <p:sp>
        <p:nvSpPr>
          <p:cNvPr id="14" name="Title 1">
            <a:extLst>
              <a:ext uri="{FF2B5EF4-FFF2-40B4-BE49-F238E27FC236}">
                <a16:creationId xmlns:a16="http://schemas.microsoft.com/office/drawing/2014/main" id="{A70FB2F3-0EA1-ED32-D137-F8882E631A98}"/>
              </a:ext>
            </a:extLst>
          </p:cNvPr>
          <p:cNvSpPr>
            <a:spLocks noGrp="1"/>
          </p:cNvSpPr>
          <p:nvPr>
            <p:ph type="title"/>
          </p:nvPr>
        </p:nvSpPr>
        <p:spPr>
          <a:xfrm>
            <a:off x="304800" y="128587"/>
            <a:ext cx="8610600" cy="629033"/>
          </a:xfrm>
        </p:spPr>
        <p:txBody>
          <a:bodyPr/>
          <a:lstStyle/>
          <a:p>
            <a:r>
              <a:rPr lang="en-US" sz="2800" b="1" dirty="0">
                <a:solidFill>
                  <a:srgbClr val="FFC000"/>
                </a:solidFill>
                <a:latin typeface="Times New Roman" panose="02020603050405020304" pitchFamily="18" charset="0"/>
                <a:ea typeface="Cambria" panose="02040503050406030204" pitchFamily="18" charset="0"/>
                <a:cs typeface="Times New Roman" panose="02020603050405020304" pitchFamily="18" charset="0"/>
              </a:rPr>
              <a:t>ABSTRACT</a:t>
            </a: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72C061-B6F2-198F-AE89-733214A0373F}"/>
              </a:ext>
            </a:extLst>
          </p:cNvPr>
          <p:cNvSpPr>
            <a:spLocks noGrp="1"/>
          </p:cNvSpPr>
          <p:nvPr>
            <p:ph idx="1"/>
          </p:nvPr>
        </p:nvSpPr>
        <p:spPr>
          <a:xfrm>
            <a:off x="5395609" y="1409700"/>
            <a:ext cx="3505200" cy="4038600"/>
          </a:xfrm>
        </p:spPr>
        <p:txBody>
          <a:bodyPr/>
          <a:lstStyle/>
          <a:p>
            <a:r>
              <a:rPr lang="en-IN" sz="1800" dirty="0">
                <a:latin typeface="Times New Roman" panose="02020603050405020304" pitchFamily="18" charset="0"/>
                <a:cs typeface="Times New Roman" panose="02020603050405020304" pitchFamily="18" charset="0"/>
              </a:rPr>
              <a:t>Ceiling fans are widely used in South India</a:t>
            </a:r>
          </a:p>
          <a:p>
            <a:r>
              <a:rPr lang="en-IN" sz="1800" dirty="0">
                <a:latin typeface="Times New Roman" panose="02020603050405020304" pitchFamily="18" charset="0"/>
                <a:cs typeface="Times New Roman" panose="02020603050405020304" pitchFamily="18" charset="0"/>
              </a:rPr>
              <a:t>Manual speed control causes discomfort at night</a:t>
            </a:r>
          </a:p>
          <a:p>
            <a:r>
              <a:rPr lang="en-IN" sz="1800" dirty="0">
                <a:latin typeface="Times New Roman" panose="02020603050405020304" pitchFamily="18" charset="0"/>
                <a:cs typeface="Times New Roman" panose="02020603050405020304" pitchFamily="18" charset="0"/>
              </a:rPr>
              <a:t>Automatic fan controller solves this issue</a:t>
            </a:r>
          </a:p>
          <a:p>
            <a:r>
              <a:rPr lang="en-IN" sz="1800" dirty="0">
                <a:latin typeface="Times New Roman" panose="02020603050405020304" pitchFamily="18" charset="0"/>
                <a:cs typeface="Times New Roman" panose="02020603050405020304" pitchFamily="18" charset="0"/>
              </a:rPr>
              <a:t>Uses Arduino and DHT sensor</a:t>
            </a:r>
          </a:p>
          <a:p>
            <a:r>
              <a:rPr lang="en-IN" sz="1800" dirty="0">
                <a:latin typeface="Times New Roman" panose="02020603050405020304" pitchFamily="18" charset="0"/>
                <a:cs typeface="Times New Roman" panose="02020603050405020304" pitchFamily="18" charset="0"/>
              </a:rPr>
              <a:t>Automatically adjusts fan speed</a:t>
            </a:r>
          </a:p>
          <a:p>
            <a:r>
              <a:rPr lang="en-IN" sz="1800" dirty="0">
                <a:latin typeface="Times New Roman" panose="02020603050405020304" pitchFamily="18" charset="0"/>
                <a:cs typeface="Times New Roman" panose="02020603050405020304" pitchFamily="18" charset="0"/>
              </a:rPr>
              <a:t>Improves comfort and saves energy</a:t>
            </a:r>
          </a:p>
          <a:p>
            <a:r>
              <a:rPr lang="en-IN" sz="1800" dirty="0">
                <a:latin typeface="Times New Roman" panose="02020603050405020304" pitchFamily="18" charset="0"/>
                <a:cs typeface="Times New Roman" panose="02020603050405020304" pitchFamily="18" charset="0"/>
              </a:rPr>
              <a:t>Capacitive regulator reduces power loss</a:t>
            </a:r>
          </a:p>
        </p:txBody>
      </p:sp>
      <p:sp>
        <p:nvSpPr>
          <p:cNvPr id="4" name="Slide Number Placeholder 3">
            <a:extLst>
              <a:ext uri="{FF2B5EF4-FFF2-40B4-BE49-F238E27FC236}">
                <a16:creationId xmlns:a16="http://schemas.microsoft.com/office/drawing/2014/main" id="{2B0F4014-FB4A-83B1-A0F4-ED0FC62AF212}"/>
              </a:ext>
            </a:extLst>
          </p:cNvPr>
          <p:cNvSpPr>
            <a:spLocks noGrp="1"/>
          </p:cNvSpPr>
          <p:nvPr>
            <p:ph type="sldNum" sz="quarter" idx="12"/>
          </p:nvPr>
        </p:nvSpPr>
        <p:spPr/>
        <p:txBody>
          <a:bodyPr/>
          <a:lstStyle/>
          <a:p>
            <a:pPr>
              <a:defRPr/>
            </a:pPr>
            <a:fld id="{51EDAF45-A1ED-443F-B7DC-99AC8969684E}" type="slidenum">
              <a:rPr lang="en-US" sz="1200" smtClean="0"/>
              <a:pPr>
                <a:defRPr/>
              </a:pPr>
              <a:t>3</a:t>
            </a:fld>
            <a:endParaRPr lang="en-US" sz="1200" dirty="0"/>
          </a:p>
        </p:txBody>
      </p:sp>
      <p:sp>
        <p:nvSpPr>
          <p:cNvPr id="7" name="Title 1">
            <a:extLst>
              <a:ext uri="{FF2B5EF4-FFF2-40B4-BE49-F238E27FC236}">
                <a16:creationId xmlns:a16="http://schemas.microsoft.com/office/drawing/2014/main" id="{100D80B3-B6D2-D86D-B522-2FFD90686AFB}"/>
              </a:ext>
            </a:extLst>
          </p:cNvPr>
          <p:cNvSpPr>
            <a:spLocks noGrp="1"/>
          </p:cNvSpPr>
          <p:nvPr>
            <p:ph type="title"/>
          </p:nvPr>
        </p:nvSpPr>
        <p:spPr>
          <a:xfrm>
            <a:off x="304800" y="128587"/>
            <a:ext cx="8610600" cy="629033"/>
          </a:xfrm>
        </p:spPr>
        <p:txBody>
          <a:bodyPr/>
          <a:lstStyle/>
          <a:p>
            <a:r>
              <a:rPr lang="en-US" sz="2800" b="1" dirty="0">
                <a:solidFill>
                  <a:srgbClr val="FFC000"/>
                </a:solidFill>
                <a:latin typeface="Times New Roman" panose="02020603050405020304" pitchFamily="18" charset="0"/>
                <a:ea typeface="Cambria" panose="02040503050406030204" pitchFamily="18" charset="0"/>
                <a:cs typeface="Times New Roman" panose="02020603050405020304" pitchFamily="18" charset="0"/>
              </a:rPr>
              <a:t>INTRODUCTION</a:t>
            </a:r>
            <a:endParaRPr lang="en-IN" sz="2800" dirty="0">
              <a:highlight>
                <a:srgbClr val="FFFF00"/>
              </a:highlight>
            </a:endParaRPr>
          </a:p>
        </p:txBody>
      </p:sp>
      <p:pic>
        <p:nvPicPr>
          <p:cNvPr id="5" name="Picture 4">
            <a:extLst>
              <a:ext uri="{FF2B5EF4-FFF2-40B4-BE49-F238E27FC236}">
                <a16:creationId xmlns:a16="http://schemas.microsoft.com/office/drawing/2014/main" id="{FD684838-6398-4F9A-8D4E-B16B197BF3E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0987" y="1219200"/>
            <a:ext cx="4734128" cy="4734128"/>
          </a:xfrm>
          <a:prstGeom prst="rect">
            <a:avLst/>
          </a:prstGeom>
        </p:spPr>
      </p:pic>
    </p:spTree>
    <p:extLst>
      <p:ext uri="{BB962C8B-B14F-4D97-AF65-F5344CB8AC3E}">
        <p14:creationId xmlns:p14="http://schemas.microsoft.com/office/powerpoint/2010/main" val="40956351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98FF75-1381-86AC-16E7-CEA7FD42D987}"/>
              </a:ext>
            </a:extLst>
          </p:cNvPr>
          <p:cNvSpPr>
            <a:spLocks noGrp="1"/>
          </p:cNvSpPr>
          <p:nvPr>
            <p:ph type="sldNum" sz="quarter" idx="12"/>
          </p:nvPr>
        </p:nvSpPr>
        <p:spPr>
          <a:xfrm>
            <a:off x="7239000" y="6400800"/>
            <a:ext cx="1905000" cy="314325"/>
          </a:xfrm>
        </p:spPr>
        <p:txBody>
          <a:bodyPr/>
          <a:lstStyle/>
          <a:p>
            <a:pPr>
              <a:defRPr/>
            </a:pPr>
            <a:fld id="{CCE60E7C-9340-4E78-8FF1-5B9A5C8058C3}" type="slidenum">
              <a:rPr lang="en-US" smtClean="0"/>
              <a:pPr>
                <a:defRPr/>
              </a:pPr>
              <a:t>4</a:t>
            </a:fld>
            <a:endParaRPr lang="en-US" dirty="0"/>
          </a:p>
        </p:txBody>
      </p:sp>
      <p:sp>
        <p:nvSpPr>
          <p:cNvPr id="4" name="Title 1">
            <a:extLst>
              <a:ext uri="{FF2B5EF4-FFF2-40B4-BE49-F238E27FC236}">
                <a16:creationId xmlns:a16="http://schemas.microsoft.com/office/drawing/2014/main" id="{3C844B8F-BFBC-22B3-9FEA-2C58AE9224AC}"/>
              </a:ext>
            </a:extLst>
          </p:cNvPr>
          <p:cNvSpPr txBox="1">
            <a:spLocks/>
          </p:cNvSpPr>
          <p:nvPr/>
        </p:nvSpPr>
        <p:spPr>
          <a:xfrm>
            <a:off x="304800" y="128587"/>
            <a:ext cx="8610600" cy="629033"/>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2pPr>
            <a:lvl3pPr algn="ctr" rtl="0" eaLnBrk="0" fontAlgn="base" hangingPunct="0">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3pPr>
            <a:lvl4pPr algn="ctr" rtl="0" eaLnBrk="0" fontAlgn="base" hangingPunct="0">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4pPr>
            <a:lvl5pPr algn="ctr" rtl="0" eaLnBrk="0" fontAlgn="base" hangingPunct="0">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5pPr>
            <a:lvl6pPr marL="457200" algn="ctr" rtl="0" fontAlgn="base">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6pPr>
            <a:lvl7pPr marL="914400" algn="ctr" rtl="0" fontAlgn="base">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7pPr>
            <a:lvl8pPr marL="1371600" algn="ctr" rtl="0" fontAlgn="base">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8pPr>
            <a:lvl9pPr marL="1828800" algn="ctr" rtl="0" fontAlgn="base">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9pPr>
          </a:lstStyle>
          <a:p>
            <a:r>
              <a:rPr lang="en-US" sz="2800" b="1" kern="0" dirty="0">
                <a:solidFill>
                  <a:srgbClr val="FFC000"/>
                </a:solidFill>
                <a:latin typeface="Times New Roman" panose="02020603050405020304" pitchFamily="18" charset="0"/>
                <a:ea typeface="Cambria" panose="02040503050406030204" pitchFamily="18" charset="0"/>
                <a:cs typeface="Times New Roman" panose="02020603050405020304" pitchFamily="18" charset="0"/>
              </a:rPr>
              <a:t>METHODOLOGY</a:t>
            </a:r>
            <a:endParaRPr lang="en-IN" sz="2800" kern="0" dirty="0"/>
          </a:p>
        </p:txBody>
      </p:sp>
      <p:pic>
        <p:nvPicPr>
          <p:cNvPr id="6" name="Picture 5">
            <a:extLst>
              <a:ext uri="{FF2B5EF4-FFF2-40B4-BE49-F238E27FC236}">
                <a16:creationId xmlns:a16="http://schemas.microsoft.com/office/drawing/2014/main" id="{45DF0929-7515-4F04-B2BC-D5E487D86B24}"/>
              </a:ext>
            </a:extLst>
          </p:cNvPr>
          <p:cNvPicPr>
            <a:picLocks noChangeAspect="1"/>
          </p:cNvPicPr>
          <p:nvPr/>
        </p:nvPicPr>
        <p:blipFill rotWithShape="1">
          <a:blip r:embed="rId3">
            <a:extLst>
              <a:ext uri="{28A0092B-C50C-407E-A947-70E740481C1C}">
                <a14:useLocalDpi xmlns:a14="http://schemas.microsoft.com/office/drawing/2010/main" val="0"/>
              </a:ext>
            </a:extLst>
          </a:blip>
          <a:srcRect l="39749" b="53659"/>
          <a:stretch/>
        </p:blipFill>
        <p:spPr>
          <a:xfrm>
            <a:off x="5927535" y="1828800"/>
            <a:ext cx="3003105" cy="1447800"/>
          </a:xfrm>
          <a:prstGeom prst="rect">
            <a:avLst/>
          </a:prstGeom>
        </p:spPr>
      </p:pic>
      <p:sp>
        <p:nvSpPr>
          <p:cNvPr id="7" name="TextBox 6">
            <a:extLst>
              <a:ext uri="{FF2B5EF4-FFF2-40B4-BE49-F238E27FC236}">
                <a16:creationId xmlns:a16="http://schemas.microsoft.com/office/drawing/2014/main" id="{45CC7132-40E6-446E-BD84-80AE72E0DC5D}"/>
              </a:ext>
            </a:extLst>
          </p:cNvPr>
          <p:cNvSpPr txBox="1"/>
          <p:nvPr/>
        </p:nvSpPr>
        <p:spPr>
          <a:xfrm>
            <a:off x="6629400" y="3791750"/>
            <a:ext cx="2667000"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DHT sensor</a:t>
            </a:r>
          </a:p>
        </p:txBody>
      </p:sp>
      <p:sp>
        <p:nvSpPr>
          <p:cNvPr id="10" name="TextBox 9">
            <a:extLst>
              <a:ext uri="{FF2B5EF4-FFF2-40B4-BE49-F238E27FC236}">
                <a16:creationId xmlns:a16="http://schemas.microsoft.com/office/drawing/2014/main" id="{C60E6703-01CD-4224-89B0-0CB54A4B5E2E}"/>
              </a:ext>
            </a:extLst>
          </p:cNvPr>
          <p:cNvSpPr txBox="1"/>
          <p:nvPr/>
        </p:nvSpPr>
        <p:spPr>
          <a:xfrm>
            <a:off x="762000" y="1319243"/>
            <a:ext cx="5165535" cy="4524315"/>
          </a:xfrm>
          <a:prstGeom prst="rect">
            <a:avLst/>
          </a:prstGeom>
          <a:noFill/>
        </p:spPr>
        <p:txBody>
          <a:bodyPr wrap="square" rtlCol="0">
            <a:spAutoFit/>
          </a:bodyPr>
          <a:lstStyle/>
          <a:p>
            <a:pPr algn="just"/>
            <a:r>
              <a:rPr lang="en-IN" b="1" dirty="0">
                <a:latin typeface="Times New Roman" panose="02020603050405020304" pitchFamily="18" charset="0"/>
                <a:cs typeface="Times New Roman" panose="02020603050405020304" pitchFamily="18" charset="0"/>
              </a:rPr>
              <a:t> Methodology</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System Overview:</a:t>
            </a:r>
            <a:endParaRPr lang="en-IN"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Arduino Uno (or alternatives like Arduino Nano, ESP32) reads room temperature.</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Automatically adjusts fan speed via a servo motor that turns the existing knob.</a:t>
            </a:r>
          </a:p>
          <a:p>
            <a:pPr algn="just"/>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Sensor Setup:</a:t>
            </a:r>
            <a:endParaRPr lang="en-IN"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DHT22 sensor measures temperature and humidity in real time.</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Data is sent to the microcontroller for automatic fan control.</a:t>
            </a:r>
          </a:p>
          <a:p>
            <a:pPr algn="just"/>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24325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6D9DAB-CAB6-7B53-E6DB-27F8A29A434D}"/>
              </a:ext>
            </a:extLst>
          </p:cNvPr>
          <p:cNvSpPr>
            <a:spLocks noGrp="1"/>
          </p:cNvSpPr>
          <p:nvPr>
            <p:ph type="sldNum" sz="quarter" idx="12"/>
          </p:nvPr>
        </p:nvSpPr>
        <p:spPr>
          <a:xfrm>
            <a:off x="7239000" y="6400800"/>
            <a:ext cx="1905000" cy="314325"/>
          </a:xfrm>
        </p:spPr>
        <p:txBody>
          <a:bodyPr/>
          <a:lstStyle/>
          <a:p>
            <a:pPr>
              <a:defRPr/>
            </a:pPr>
            <a:r>
              <a:rPr lang="en-US" dirty="0"/>
              <a:t>5</a:t>
            </a:r>
          </a:p>
        </p:txBody>
      </p:sp>
      <p:sp>
        <p:nvSpPr>
          <p:cNvPr id="7" name="Title 1">
            <a:extLst>
              <a:ext uri="{FF2B5EF4-FFF2-40B4-BE49-F238E27FC236}">
                <a16:creationId xmlns:a16="http://schemas.microsoft.com/office/drawing/2014/main" id="{D6CAE5F2-B757-A720-5682-A4C4AEF21261}"/>
              </a:ext>
            </a:extLst>
          </p:cNvPr>
          <p:cNvSpPr txBox="1">
            <a:spLocks/>
          </p:cNvSpPr>
          <p:nvPr/>
        </p:nvSpPr>
        <p:spPr>
          <a:xfrm>
            <a:off x="304800" y="128587"/>
            <a:ext cx="8610600" cy="629033"/>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2pPr>
            <a:lvl3pPr algn="ctr" rtl="0" eaLnBrk="0" fontAlgn="base" hangingPunct="0">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3pPr>
            <a:lvl4pPr algn="ctr" rtl="0" eaLnBrk="0" fontAlgn="base" hangingPunct="0">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4pPr>
            <a:lvl5pPr algn="ctr" rtl="0" eaLnBrk="0" fontAlgn="base" hangingPunct="0">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5pPr>
            <a:lvl6pPr marL="457200" algn="ctr" rtl="0" fontAlgn="base">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6pPr>
            <a:lvl7pPr marL="914400" algn="ctr" rtl="0" fontAlgn="base">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7pPr>
            <a:lvl8pPr marL="1371600" algn="ctr" rtl="0" fontAlgn="base">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8pPr>
            <a:lvl9pPr marL="1828800" algn="ctr" rtl="0" fontAlgn="base">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9pPr>
          </a:lstStyle>
          <a:p>
            <a:r>
              <a:rPr lang="en-US" sz="2800" b="1" kern="0" dirty="0">
                <a:solidFill>
                  <a:srgbClr val="FFC000"/>
                </a:solidFill>
                <a:latin typeface="Times New Roman" panose="02020603050405020304" pitchFamily="18" charset="0"/>
                <a:ea typeface="Cambria" panose="02040503050406030204" pitchFamily="18" charset="0"/>
                <a:cs typeface="Times New Roman" panose="02020603050405020304" pitchFamily="18" charset="0"/>
              </a:rPr>
              <a:t>METHODOLOGY</a:t>
            </a:r>
            <a:endParaRPr lang="en-IN" sz="2800" kern="0" dirty="0"/>
          </a:p>
        </p:txBody>
      </p:sp>
      <p:sp>
        <p:nvSpPr>
          <p:cNvPr id="12" name="TextBox 11">
            <a:extLst>
              <a:ext uri="{FF2B5EF4-FFF2-40B4-BE49-F238E27FC236}">
                <a16:creationId xmlns:a16="http://schemas.microsoft.com/office/drawing/2014/main" id="{1A6CA34E-A447-46C4-9ADA-2E99800BF0A0}"/>
              </a:ext>
            </a:extLst>
          </p:cNvPr>
          <p:cNvSpPr txBox="1"/>
          <p:nvPr/>
        </p:nvSpPr>
        <p:spPr>
          <a:xfrm>
            <a:off x="792480" y="3810000"/>
            <a:ext cx="7970520" cy="2308324"/>
          </a:xfrm>
          <a:prstGeom prst="rect">
            <a:avLst/>
          </a:prstGeom>
          <a:noFill/>
        </p:spPr>
        <p:txBody>
          <a:bodyPr wrap="square" rtlCol="0">
            <a:spAutoFit/>
          </a:bodyPr>
          <a:lstStyle/>
          <a:p>
            <a:pPr algn="just"/>
            <a:r>
              <a:rPr lang="en-IN" b="1" dirty="0">
                <a:latin typeface="Times New Roman" panose="02020603050405020304" pitchFamily="18" charset="0"/>
                <a:cs typeface="Times New Roman" panose="02020603050405020304" pitchFamily="18" charset="0"/>
              </a:rPr>
              <a:t>Servo Connection &amp; Control Logic</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Servo motor fixed to fan regulator, different angles control fan speed like manual knob.  Arduino reads temperature and sets servo angle:</a:t>
            </a:r>
          </a:p>
          <a:p>
            <a:pPr algn="just"/>
            <a:r>
              <a:rPr lang="en-IN" dirty="0">
                <a:latin typeface="Times New Roman" panose="02020603050405020304" pitchFamily="18" charset="0"/>
                <a:cs typeface="Times New Roman" panose="02020603050405020304" pitchFamily="18" charset="0"/>
              </a:rPr>
              <a:t>Cool → Low speed                    Warm → Medium speed             Hot → High speed</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Software Implementation</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Arduino IDE with Servo library used.</a:t>
            </a:r>
          </a:p>
          <a:p>
            <a:pPr algn="just"/>
            <a:r>
              <a:rPr lang="en-IN" dirty="0">
                <a:latin typeface="Times New Roman" panose="02020603050405020304" pitchFamily="18" charset="0"/>
                <a:cs typeface="Times New Roman" panose="02020603050405020304" pitchFamily="18" charset="0"/>
              </a:rPr>
              <a:t>Temperature mapped to servo angles.</a:t>
            </a:r>
          </a:p>
        </p:txBody>
      </p:sp>
      <p:pic>
        <p:nvPicPr>
          <p:cNvPr id="19" name="Picture 18">
            <a:extLst>
              <a:ext uri="{FF2B5EF4-FFF2-40B4-BE49-F238E27FC236}">
                <a16:creationId xmlns:a16="http://schemas.microsoft.com/office/drawing/2014/main" id="{1CBB2C81-4907-4BF4-B5A7-3ABC7B4DCE6D}"/>
              </a:ext>
            </a:extLst>
          </p:cNvPr>
          <p:cNvPicPr/>
          <p:nvPr/>
        </p:nvPicPr>
        <p:blipFill>
          <a:blip r:embed="rId2">
            <a:extLst>
              <a:ext uri="{28A0092B-C50C-407E-A947-70E740481C1C}">
                <a14:useLocalDpi xmlns:a14="http://schemas.microsoft.com/office/drawing/2010/main" val="0"/>
              </a:ext>
            </a:extLst>
          </a:blip>
          <a:stretch>
            <a:fillRect/>
          </a:stretch>
        </p:blipFill>
        <p:spPr>
          <a:xfrm>
            <a:off x="2286000" y="903320"/>
            <a:ext cx="4572000" cy="2760980"/>
          </a:xfrm>
          <a:prstGeom prst="rect">
            <a:avLst/>
          </a:prstGeom>
        </p:spPr>
      </p:pic>
    </p:spTree>
    <p:extLst>
      <p:ext uri="{BB962C8B-B14F-4D97-AF65-F5344CB8AC3E}">
        <p14:creationId xmlns:p14="http://schemas.microsoft.com/office/powerpoint/2010/main" val="321184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098C384-E095-2A13-0439-ED40BC6ED52D}"/>
              </a:ext>
            </a:extLst>
          </p:cNvPr>
          <p:cNvSpPr>
            <a:spLocks noGrp="1"/>
          </p:cNvSpPr>
          <p:nvPr>
            <p:ph type="sldNum" sz="quarter" idx="12"/>
          </p:nvPr>
        </p:nvSpPr>
        <p:spPr>
          <a:xfrm>
            <a:off x="7239000" y="6391275"/>
            <a:ext cx="1905000" cy="314325"/>
          </a:xfrm>
        </p:spPr>
        <p:txBody>
          <a:bodyPr/>
          <a:lstStyle/>
          <a:p>
            <a:pPr>
              <a:defRPr/>
            </a:pPr>
            <a:fld id="{CCE60E7C-9340-4E78-8FF1-5B9A5C8058C3}" type="slidenum">
              <a:rPr lang="en-US" smtClean="0"/>
              <a:pPr>
                <a:defRPr/>
              </a:pPr>
              <a:t>6</a:t>
            </a:fld>
            <a:endParaRPr lang="en-US" dirty="0"/>
          </a:p>
        </p:txBody>
      </p:sp>
      <p:sp>
        <p:nvSpPr>
          <p:cNvPr id="5" name="Title 1">
            <a:extLst>
              <a:ext uri="{FF2B5EF4-FFF2-40B4-BE49-F238E27FC236}">
                <a16:creationId xmlns:a16="http://schemas.microsoft.com/office/drawing/2014/main" id="{15DD72AE-7AB6-618A-E9DC-838DA846ADBE}"/>
              </a:ext>
            </a:extLst>
          </p:cNvPr>
          <p:cNvSpPr txBox="1">
            <a:spLocks/>
          </p:cNvSpPr>
          <p:nvPr/>
        </p:nvSpPr>
        <p:spPr>
          <a:xfrm>
            <a:off x="304800" y="128587"/>
            <a:ext cx="8610600" cy="629033"/>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2pPr>
            <a:lvl3pPr algn="ctr" rtl="0" eaLnBrk="0" fontAlgn="base" hangingPunct="0">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3pPr>
            <a:lvl4pPr algn="ctr" rtl="0" eaLnBrk="0" fontAlgn="base" hangingPunct="0">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4pPr>
            <a:lvl5pPr algn="ctr" rtl="0" eaLnBrk="0" fontAlgn="base" hangingPunct="0">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5pPr>
            <a:lvl6pPr marL="457200" algn="ctr" rtl="0" fontAlgn="base">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6pPr>
            <a:lvl7pPr marL="914400" algn="ctr" rtl="0" fontAlgn="base">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7pPr>
            <a:lvl8pPr marL="1371600" algn="ctr" rtl="0" fontAlgn="base">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8pPr>
            <a:lvl9pPr marL="1828800" algn="ctr" rtl="0" fontAlgn="base">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9pPr>
          </a:lstStyle>
          <a:p>
            <a:r>
              <a:rPr lang="en-US" sz="2800" b="1" kern="0" dirty="0">
                <a:solidFill>
                  <a:srgbClr val="FFC000"/>
                </a:solidFill>
                <a:latin typeface="Times New Roman" panose="02020603050405020304" pitchFamily="18" charset="0"/>
                <a:ea typeface="Cambria" panose="02040503050406030204" pitchFamily="18" charset="0"/>
                <a:cs typeface="Times New Roman" panose="02020603050405020304" pitchFamily="18" charset="0"/>
              </a:rPr>
              <a:t>METHODOLOGY</a:t>
            </a:r>
            <a:endParaRPr lang="en-IN" sz="2800" kern="0" dirty="0"/>
          </a:p>
        </p:txBody>
      </p:sp>
      <p:sp>
        <p:nvSpPr>
          <p:cNvPr id="4" name="TextBox 3">
            <a:extLst>
              <a:ext uri="{FF2B5EF4-FFF2-40B4-BE49-F238E27FC236}">
                <a16:creationId xmlns:a16="http://schemas.microsoft.com/office/drawing/2014/main" id="{4AB0A96D-269B-4C28-A7BD-9B2AA76F344A}"/>
              </a:ext>
            </a:extLst>
          </p:cNvPr>
          <p:cNvSpPr txBox="1"/>
          <p:nvPr/>
        </p:nvSpPr>
        <p:spPr>
          <a:xfrm>
            <a:off x="4572001" y="1066801"/>
            <a:ext cx="4343400" cy="3139321"/>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Capacitive Regulator</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Efficient fan speed control using capacitors instead of resistive regulators.</a:t>
            </a:r>
          </a:p>
          <a:p>
            <a:pPr algn="just"/>
            <a:r>
              <a:rPr lang="en-US" dirty="0">
                <a:latin typeface="Times New Roman" panose="02020603050405020304" pitchFamily="18" charset="0"/>
                <a:cs typeface="Times New Roman" panose="02020603050405020304" pitchFamily="18" charset="0"/>
              </a:rPr>
              <a:t>Changes phase difference between voltage and current to adjust effective power to the fan.</a:t>
            </a:r>
          </a:p>
          <a:p>
            <a:pPr algn="just"/>
            <a:r>
              <a:rPr lang="en-US" dirty="0">
                <a:latin typeface="Times New Roman" panose="02020603050405020304" pitchFamily="18" charset="0"/>
                <a:cs typeface="Times New Roman" panose="02020603050405020304" pitchFamily="18" charset="0"/>
              </a:rPr>
              <a:t>Different capacitor values allow multiple speed levels (low, medium, high) without wasting energy.</a:t>
            </a:r>
          </a:p>
          <a:p>
            <a:pPr algn="just"/>
            <a:endParaRPr lang="en-US"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B7BFD4D5-6B05-45D5-9907-B026E41716E9}"/>
              </a:ext>
            </a:extLst>
          </p:cNvPr>
          <p:cNvPicPr/>
          <p:nvPr/>
        </p:nvPicPr>
        <p:blipFill>
          <a:blip r:embed="rId2">
            <a:extLst>
              <a:ext uri="{28A0092B-C50C-407E-A947-70E740481C1C}">
                <a14:useLocalDpi xmlns:a14="http://schemas.microsoft.com/office/drawing/2010/main" val="0"/>
              </a:ext>
            </a:extLst>
          </a:blip>
          <a:stretch>
            <a:fillRect/>
          </a:stretch>
        </p:blipFill>
        <p:spPr>
          <a:xfrm>
            <a:off x="533400" y="1164092"/>
            <a:ext cx="3794759" cy="2557080"/>
          </a:xfrm>
          <a:prstGeom prst="rect">
            <a:avLst/>
          </a:prstGeom>
        </p:spPr>
      </p:pic>
      <p:sp>
        <p:nvSpPr>
          <p:cNvPr id="11" name="TextBox 10">
            <a:extLst>
              <a:ext uri="{FF2B5EF4-FFF2-40B4-BE49-F238E27FC236}">
                <a16:creationId xmlns:a16="http://schemas.microsoft.com/office/drawing/2014/main" id="{27FF0CD7-F30F-4C17-B70B-85FD3FFD9446}"/>
              </a:ext>
            </a:extLst>
          </p:cNvPr>
          <p:cNvSpPr txBox="1"/>
          <p:nvPr/>
        </p:nvSpPr>
        <p:spPr>
          <a:xfrm>
            <a:off x="1066800" y="4158124"/>
            <a:ext cx="7482840" cy="1704249"/>
          </a:xfrm>
          <a:prstGeom prst="rect">
            <a:avLst/>
          </a:prstGeom>
          <a:noFill/>
        </p:spPr>
        <p:txBody>
          <a:bodyPr wrap="square" rtlCol="0">
            <a:spAutoFit/>
          </a:bodyPr>
          <a:lstStyle/>
          <a:p>
            <a:pPr algn="just">
              <a:lnSpc>
                <a:spcPct val="150000"/>
              </a:lnSpc>
            </a:pPr>
            <a:r>
              <a:rPr lang="en-US" b="1" dirty="0">
                <a:latin typeface="Times New Roman" panose="02020603050405020304" pitchFamily="18" charset="0"/>
                <a:cs typeface="Times New Roman" panose="02020603050405020304" pitchFamily="18" charset="0"/>
              </a:rPr>
              <a:t>Advantages:</a:t>
            </a:r>
            <a:endParaRPr lang="en-US" dirty="0">
              <a:latin typeface="Times New Roman" panose="02020603050405020304" pitchFamily="18" charset="0"/>
              <a:cs typeface="Times New Roman" panose="02020603050405020304" pitchFamily="18" charset="0"/>
            </a:endParaRPr>
          </a:p>
          <a:p>
            <a:pPr algn="just">
              <a:lnSpc>
                <a:spcPct val="150000"/>
              </a:lnSpc>
            </a:pPr>
            <a:r>
              <a:rPr lang="en-US" b="1" dirty="0">
                <a:latin typeface="Times New Roman" panose="02020603050405020304" pitchFamily="18" charset="0"/>
                <a:cs typeface="Times New Roman" panose="02020603050405020304" pitchFamily="18" charset="0"/>
              </a:rPr>
              <a:t>Energy Efficient:</a:t>
            </a:r>
            <a:r>
              <a:rPr lang="en-US" dirty="0">
                <a:latin typeface="Times New Roman" panose="02020603050405020304" pitchFamily="18" charset="0"/>
                <a:cs typeface="Times New Roman" panose="02020603050405020304" pitchFamily="18" charset="0"/>
              </a:rPr>
              <a:t> Minimal power loss as heat.</a:t>
            </a:r>
          </a:p>
          <a:p>
            <a:pPr algn="just">
              <a:lnSpc>
                <a:spcPct val="150000"/>
              </a:lnSpc>
            </a:pPr>
            <a:r>
              <a:rPr lang="en-US" b="1" dirty="0">
                <a:latin typeface="Times New Roman" panose="02020603050405020304" pitchFamily="18" charset="0"/>
                <a:cs typeface="Times New Roman" panose="02020603050405020304" pitchFamily="18" charset="0"/>
              </a:rPr>
              <a:t>Smooth Operation:</a:t>
            </a:r>
            <a:r>
              <a:rPr lang="en-US" dirty="0">
                <a:latin typeface="Times New Roman" panose="02020603050405020304" pitchFamily="18" charset="0"/>
                <a:cs typeface="Times New Roman" panose="02020603050405020304" pitchFamily="18" charset="0"/>
              </a:rPr>
              <a:t> Stable speed without sudden drops.</a:t>
            </a:r>
          </a:p>
          <a:p>
            <a:pPr algn="just">
              <a:lnSpc>
                <a:spcPct val="150000"/>
              </a:lnSpc>
            </a:pPr>
            <a:r>
              <a:rPr lang="en-US" b="1" dirty="0">
                <a:latin typeface="Times New Roman" panose="02020603050405020304" pitchFamily="18" charset="0"/>
                <a:cs typeface="Times New Roman" panose="02020603050405020304" pitchFamily="18" charset="0"/>
              </a:rPr>
              <a:t>Durable:</a:t>
            </a:r>
            <a:r>
              <a:rPr lang="en-US" dirty="0">
                <a:latin typeface="Times New Roman" panose="02020603050405020304" pitchFamily="18" charset="0"/>
                <a:cs typeface="Times New Roman" panose="02020603050405020304" pitchFamily="18" charset="0"/>
              </a:rPr>
              <a:t> Simple design ensures long life and reliable performance</a:t>
            </a:r>
            <a:r>
              <a:rPr lang="en-US" dirty="0"/>
              <a:t>.</a:t>
            </a:r>
          </a:p>
        </p:txBody>
      </p:sp>
    </p:spTree>
    <p:extLst>
      <p:ext uri="{BB962C8B-B14F-4D97-AF65-F5344CB8AC3E}">
        <p14:creationId xmlns:p14="http://schemas.microsoft.com/office/powerpoint/2010/main" val="19574206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DE2F15B9-2638-37B6-C094-0F059007388C}"/>
              </a:ext>
            </a:extLst>
          </p:cNvPr>
          <p:cNvSpPr txBox="1">
            <a:spLocks/>
          </p:cNvSpPr>
          <p:nvPr/>
        </p:nvSpPr>
        <p:spPr>
          <a:xfrm>
            <a:off x="304800" y="21221"/>
            <a:ext cx="8610600" cy="740779"/>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2pPr>
            <a:lvl3pPr algn="ctr" rtl="0" eaLnBrk="0" fontAlgn="base" hangingPunct="0">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3pPr>
            <a:lvl4pPr algn="ctr" rtl="0" eaLnBrk="0" fontAlgn="base" hangingPunct="0">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4pPr>
            <a:lvl5pPr algn="ctr" rtl="0" eaLnBrk="0" fontAlgn="base" hangingPunct="0">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5pPr>
            <a:lvl6pPr marL="457200" algn="ctr" rtl="0" fontAlgn="base">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6pPr>
            <a:lvl7pPr marL="914400" algn="ctr" rtl="0" fontAlgn="base">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7pPr>
            <a:lvl8pPr marL="1371600" algn="ctr" rtl="0" fontAlgn="base">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8pPr>
            <a:lvl9pPr marL="1828800" algn="ctr" rtl="0" fontAlgn="base">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9pPr>
          </a:lstStyle>
          <a:p>
            <a:r>
              <a:rPr lang="en-US" sz="2800" b="1" kern="0" dirty="0">
                <a:solidFill>
                  <a:srgbClr val="FFC000"/>
                </a:solidFill>
                <a:latin typeface="Times New Roman" panose="02020603050405020304" pitchFamily="18" charset="0"/>
                <a:ea typeface="Cambria" panose="02040503050406030204" pitchFamily="18" charset="0"/>
                <a:cs typeface="Times New Roman" panose="02020603050405020304" pitchFamily="18" charset="0"/>
              </a:rPr>
              <a:t>RESULTS</a:t>
            </a:r>
            <a:endParaRPr lang="en-IN" sz="2800" kern="0" dirty="0"/>
          </a:p>
        </p:txBody>
      </p:sp>
      <p:pic>
        <p:nvPicPr>
          <p:cNvPr id="9" name="Picture 8">
            <a:extLst>
              <a:ext uri="{FF2B5EF4-FFF2-40B4-BE49-F238E27FC236}">
                <a16:creationId xmlns:a16="http://schemas.microsoft.com/office/drawing/2014/main" id="{C4FC9259-AD76-4C92-B661-256CE598CAF0}"/>
              </a:ext>
            </a:extLst>
          </p:cNvPr>
          <p:cNvPicPr/>
          <p:nvPr/>
        </p:nvPicPr>
        <p:blipFill>
          <a:blip r:embed="rId2"/>
          <a:stretch>
            <a:fillRect/>
          </a:stretch>
        </p:blipFill>
        <p:spPr>
          <a:xfrm>
            <a:off x="497393" y="1346587"/>
            <a:ext cx="4246462" cy="3962400"/>
          </a:xfrm>
          <a:prstGeom prst="rect">
            <a:avLst/>
          </a:prstGeom>
        </p:spPr>
      </p:pic>
      <p:graphicFrame>
        <p:nvGraphicFramePr>
          <p:cNvPr id="2" name="Table 1">
            <a:extLst>
              <a:ext uri="{FF2B5EF4-FFF2-40B4-BE49-F238E27FC236}">
                <a16:creationId xmlns:a16="http://schemas.microsoft.com/office/drawing/2014/main" id="{5721B15E-9F88-4499-A763-22CBE30372F2}"/>
              </a:ext>
            </a:extLst>
          </p:cNvPr>
          <p:cNvGraphicFramePr>
            <a:graphicFrameLocks noGrp="1"/>
          </p:cNvGraphicFramePr>
          <p:nvPr>
            <p:extLst>
              <p:ext uri="{D42A27DB-BD31-4B8C-83A1-F6EECF244321}">
                <p14:modId xmlns:p14="http://schemas.microsoft.com/office/powerpoint/2010/main" val="2512708633"/>
              </p:ext>
            </p:extLst>
          </p:nvPr>
        </p:nvGraphicFramePr>
        <p:xfrm>
          <a:off x="4953000" y="1348613"/>
          <a:ext cx="3951790" cy="1699387"/>
        </p:xfrm>
        <a:graphic>
          <a:graphicData uri="http://schemas.openxmlformats.org/drawingml/2006/table">
            <a:tbl>
              <a:tblPr firstRow="1" firstCol="1" bandRow="1">
                <a:tableStyleId>{5C22544A-7EE6-4342-B048-85BDC9FD1C3A}</a:tableStyleId>
              </a:tblPr>
              <a:tblGrid>
                <a:gridCol w="1316758">
                  <a:extLst>
                    <a:ext uri="{9D8B030D-6E8A-4147-A177-3AD203B41FA5}">
                      <a16:colId xmlns:a16="http://schemas.microsoft.com/office/drawing/2014/main" val="3143253679"/>
                    </a:ext>
                  </a:extLst>
                </a:gridCol>
                <a:gridCol w="1317516">
                  <a:extLst>
                    <a:ext uri="{9D8B030D-6E8A-4147-A177-3AD203B41FA5}">
                      <a16:colId xmlns:a16="http://schemas.microsoft.com/office/drawing/2014/main" val="430073193"/>
                    </a:ext>
                  </a:extLst>
                </a:gridCol>
                <a:gridCol w="1317516">
                  <a:extLst>
                    <a:ext uri="{9D8B030D-6E8A-4147-A177-3AD203B41FA5}">
                      <a16:colId xmlns:a16="http://schemas.microsoft.com/office/drawing/2014/main" val="1618625018"/>
                    </a:ext>
                  </a:extLst>
                </a:gridCol>
              </a:tblGrid>
              <a:tr h="472765">
                <a:tc>
                  <a:txBody>
                    <a:bodyPr/>
                    <a:lstStyle/>
                    <a:p>
                      <a:pPr algn="ctr">
                        <a:lnSpc>
                          <a:spcPct val="150000"/>
                        </a:lnSpc>
                        <a:spcAft>
                          <a:spcPts val="0"/>
                        </a:spcAft>
                      </a:pPr>
                      <a:r>
                        <a:rPr lang="en-IN" sz="1000" dirty="0">
                          <a:solidFill>
                            <a:schemeClr val="tx1"/>
                          </a:solidFill>
                          <a:effectLst/>
                        </a:rPr>
                        <a:t>Level</a:t>
                      </a:r>
                      <a:endPar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50000"/>
                        </a:lnSpc>
                        <a:spcAft>
                          <a:spcPts val="0"/>
                        </a:spcAft>
                      </a:pPr>
                      <a:r>
                        <a:rPr lang="en-IN" sz="1000" dirty="0">
                          <a:solidFill>
                            <a:schemeClr val="tx1"/>
                          </a:solidFill>
                          <a:effectLst/>
                        </a:rPr>
                        <a:t>Temperature</a:t>
                      </a:r>
                      <a:endPar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50000"/>
                        </a:lnSpc>
                        <a:spcAft>
                          <a:spcPts val="0"/>
                        </a:spcAft>
                      </a:pPr>
                      <a:r>
                        <a:rPr lang="en-IN" sz="1000">
                          <a:solidFill>
                            <a:schemeClr val="tx1"/>
                          </a:solidFill>
                          <a:effectLst/>
                        </a:rPr>
                        <a:t>Speed(rpm)</a:t>
                      </a:r>
                      <a:endPar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8037845"/>
                  </a:ext>
                </a:extLst>
              </a:tr>
              <a:tr h="361981">
                <a:tc>
                  <a:txBody>
                    <a:bodyPr/>
                    <a:lstStyle/>
                    <a:p>
                      <a:pPr algn="ctr">
                        <a:lnSpc>
                          <a:spcPct val="150000"/>
                        </a:lnSpc>
                        <a:spcAft>
                          <a:spcPts val="0"/>
                        </a:spcAft>
                      </a:pPr>
                      <a:r>
                        <a:rPr lang="en-IN" sz="1000" dirty="0">
                          <a:solidFill>
                            <a:schemeClr val="tx1"/>
                          </a:solidFill>
                          <a:effectLst/>
                        </a:rPr>
                        <a:t>1</a:t>
                      </a:r>
                      <a:endPar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50000"/>
                        </a:lnSpc>
                        <a:spcAft>
                          <a:spcPts val="0"/>
                        </a:spcAft>
                      </a:pPr>
                      <a:r>
                        <a:rPr lang="en-IN" sz="1000" dirty="0">
                          <a:solidFill>
                            <a:schemeClr val="tx1"/>
                          </a:solidFill>
                          <a:effectLst/>
                        </a:rPr>
                        <a:t>&lt;25</a:t>
                      </a:r>
                      <a:endPar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50000"/>
                        </a:lnSpc>
                        <a:spcAft>
                          <a:spcPts val="0"/>
                        </a:spcAft>
                      </a:pPr>
                      <a:r>
                        <a:rPr lang="en-IN" sz="1000" dirty="0">
                          <a:solidFill>
                            <a:schemeClr val="tx1"/>
                          </a:solidFill>
                          <a:effectLst/>
                        </a:rPr>
                        <a:t>200</a:t>
                      </a:r>
                      <a:endPar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05559176"/>
                  </a:ext>
                </a:extLst>
              </a:tr>
              <a:tr h="323003">
                <a:tc>
                  <a:txBody>
                    <a:bodyPr/>
                    <a:lstStyle/>
                    <a:p>
                      <a:pPr algn="ctr">
                        <a:lnSpc>
                          <a:spcPct val="150000"/>
                        </a:lnSpc>
                        <a:spcAft>
                          <a:spcPts val="0"/>
                        </a:spcAft>
                      </a:pPr>
                      <a:r>
                        <a:rPr lang="en-IN" sz="1000" dirty="0">
                          <a:solidFill>
                            <a:schemeClr val="tx1"/>
                          </a:solidFill>
                          <a:effectLst/>
                        </a:rPr>
                        <a:t>2</a:t>
                      </a:r>
                      <a:endPar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50000"/>
                        </a:lnSpc>
                        <a:spcAft>
                          <a:spcPts val="0"/>
                        </a:spcAft>
                      </a:pPr>
                      <a:r>
                        <a:rPr lang="en-IN" sz="1000" dirty="0">
                          <a:solidFill>
                            <a:schemeClr val="tx1"/>
                          </a:solidFill>
                          <a:effectLst/>
                        </a:rPr>
                        <a:t>25-35</a:t>
                      </a:r>
                      <a:endPar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50000"/>
                        </a:lnSpc>
                        <a:spcAft>
                          <a:spcPts val="0"/>
                        </a:spcAft>
                      </a:pPr>
                      <a:r>
                        <a:rPr lang="en-IN" sz="1000" dirty="0">
                          <a:solidFill>
                            <a:schemeClr val="tx1"/>
                          </a:solidFill>
                          <a:effectLst/>
                        </a:rPr>
                        <a:t>280</a:t>
                      </a:r>
                      <a:endPar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6702380"/>
                  </a:ext>
                </a:extLst>
              </a:tr>
              <a:tr h="284034">
                <a:tc>
                  <a:txBody>
                    <a:bodyPr/>
                    <a:lstStyle/>
                    <a:p>
                      <a:pPr algn="ctr">
                        <a:lnSpc>
                          <a:spcPct val="150000"/>
                        </a:lnSpc>
                        <a:spcAft>
                          <a:spcPts val="0"/>
                        </a:spcAft>
                      </a:pPr>
                      <a:r>
                        <a:rPr lang="en-IN" sz="1000" dirty="0">
                          <a:solidFill>
                            <a:schemeClr val="tx1"/>
                          </a:solidFill>
                          <a:effectLst/>
                        </a:rPr>
                        <a:t>3</a:t>
                      </a:r>
                      <a:endPar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50000"/>
                        </a:lnSpc>
                        <a:spcAft>
                          <a:spcPts val="0"/>
                        </a:spcAft>
                      </a:pPr>
                      <a:r>
                        <a:rPr lang="en-IN" sz="1000" dirty="0">
                          <a:solidFill>
                            <a:schemeClr val="tx1"/>
                          </a:solidFill>
                          <a:effectLst/>
                        </a:rPr>
                        <a:t>35-45</a:t>
                      </a:r>
                      <a:endPar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50000"/>
                        </a:lnSpc>
                        <a:spcAft>
                          <a:spcPts val="0"/>
                        </a:spcAft>
                      </a:pPr>
                      <a:r>
                        <a:rPr lang="en-IN" sz="1000" dirty="0">
                          <a:solidFill>
                            <a:schemeClr val="tx1"/>
                          </a:solidFill>
                          <a:effectLst/>
                        </a:rPr>
                        <a:t>370</a:t>
                      </a:r>
                      <a:endPar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82815667"/>
                  </a:ext>
                </a:extLst>
              </a:tr>
              <a:tr h="257604">
                <a:tc>
                  <a:txBody>
                    <a:bodyPr/>
                    <a:lstStyle/>
                    <a:p>
                      <a:pPr algn="ctr">
                        <a:lnSpc>
                          <a:spcPct val="150000"/>
                        </a:lnSpc>
                        <a:spcAft>
                          <a:spcPts val="0"/>
                        </a:spcAft>
                      </a:pPr>
                      <a:r>
                        <a:rPr lang="en-IN" sz="1000">
                          <a:solidFill>
                            <a:schemeClr val="tx1"/>
                          </a:solidFill>
                          <a:effectLst/>
                        </a:rPr>
                        <a:t>4</a:t>
                      </a:r>
                      <a:endPar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50000"/>
                        </a:lnSpc>
                        <a:spcAft>
                          <a:spcPts val="0"/>
                        </a:spcAft>
                      </a:pPr>
                      <a:r>
                        <a:rPr lang="en-IN" sz="1000" dirty="0">
                          <a:solidFill>
                            <a:schemeClr val="tx1"/>
                          </a:solidFill>
                          <a:effectLst/>
                        </a:rPr>
                        <a:t>&gt;45</a:t>
                      </a:r>
                      <a:endPar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50000"/>
                        </a:lnSpc>
                        <a:spcAft>
                          <a:spcPts val="0"/>
                        </a:spcAft>
                      </a:pPr>
                      <a:r>
                        <a:rPr lang="en-IN" sz="1000" dirty="0">
                          <a:solidFill>
                            <a:schemeClr val="tx1"/>
                          </a:solidFill>
                          <a:effectLst/>
                        </a:rPr>
                        <a:t>420+</a:t>
                      </a:r>
                      <a:endParaRPr lang="en-IN"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65702226"/>
                  </a:ext>
                </a:extLst>
              </a:tr>
            </a:tbl>
          </a:graphicData>
        </a:graphic>
      </p:graphicFrame>
      <p:sp>
        <p:nvSpPr>
          <p:cNvPr id="3" name="TextBox 2">
            <a:extLst>
              <a:ext uri="{FF2B5EF4-FFF2-40B4-BE49-F238E27FC236}">
                <a16:creationId xmlns:a16="http://schemas.microsoft.com/office/drawing/2014/main" id="{A6D8C3AC-DCDA-42F7-B226-B24C456386F3}"/>
              </a:ext>
            </a:extLst>
          </p:cNvPr>
          <p:cNvSpPr txBox="1"/>
          <p:nvPr/>
        </p:nvSpPr>
        <p:spPr>
          <a:xfrm>
            <a:off x="685800" y="5509387"/>
            <a:ext cx="5638800" cy="338554"/>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P</a:t>
            </a:r>
            <a:r>
              <a:rPr lang="en-IN" sz="1600" b="1" dirty="0" err="1">
                <a:latin typeface="Times New Roman" panose="02020603050405020304" pitchFamily="18" charset="0"/>
                <a:cs typeface="Times New Roman" panose="02020603050405020304" pitchFamily="18" charset="0"/>
              </a:rPr>
              <a:t>ractical</a:t>
            </a:r>
            <a:r>
              <a:rPr lang="en-IN" sz="1600" b="1" dirty="0">
                <a:latin typeface="Times New Roman" panose="02020603050405020304" pitchFamily="18" charset="0"/>
                <a:cs typeface="Times New Roman" panose="02020603050405020304" pitchFamily="18" charset="0"/>
              </a:rPr>
              <a:t> connections using Microcontroller</a:t>
            </a:r>
          </a:p>
        </p:txBody>
      </p:sp>
      <p:sp>
        <p:nvSpPr>
          <p:cNvPr id="4" name="Rectangle 3">
            <a:extLst>
              <a:ext uri="{FF2B5EF4-FFF2-40B4-BE49-F238E27FC236}">
                <a16:creationId xmlns:a16="http://schemas.microsoft.com/office/drawing/2014/main" id="{7775BE31-C44A-4843-905B-E859F94161EA}"/>
              </a:ext>
            </a:extLst>
          </p:cNvPr>
          <p:cNvSpPr/>
          <p:nvPr/>
        </p:nvSpPr>
        <p:spPr>
          <a:xfrm>
            <a:off x="4915711" y="3276600"/>
            <a:ext cx="4056433" cy="2862322"/>
          </a:xfrm>
          <a:prstGeom prst="rect">
            <a:avLst/>
          </a:prstGeom>
        </p:spPr>
        <p:txBody>
          <a:bodyPr wrap="square">
            <a:spAutoFit/>
          </a:bodyPr>
          <a:lstStyle/>
          <a:p>
            <a:pPr algn="just"/>
            <a:r>
              <a:rPr lang="en-IN" b="1" dirty="0">
                <a:latin typeface="Times New Roman" panose="02020603050405020304" pitchFamily="18" charset="0"/>
                <a:cs typeface="Times New Roman" panose="02020603050405020304" pitchFamily="18" charset="0"/>
              </a:rPr>
              <a:t>capacitive Regulator Levels</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Four levels controlled by servo motor based on temperature.</a:t>
            </a:r>
          </a:p>
          <a:p>
            <a:pPr algn="just"/>
            <a:r>
              <a:rPr lang="en-IN" dirty="0">
                <a:latin typeface="Times New Roman" panose="02020603050405020304" pitchFamily="18" charset="0"/>
                <a:cs typeface="Times New Roman" panose="02020603050405020304" pitchFamily="18" charset="0"/>
              </a:rPr>
              <a:t>Each level has a specific fan RPM:</a:t>
            </a:r>
          </a:p>
          <a:p>
            <a:pPr lvl="1" algn="just"/>
            <a:r>
              <a:rPr lang="en-IN" b="1" dirty="0">
                <a:latin typeface="Times New Roman" panose="02020603050405020304" pitchFamily="18" charset="0"/>
                <a:cs typeface="Times New Roman" panose="02020603050405020304" pitchFamily="18" charset="0"/>
              </a:rPr>
              <a:t>Low RPM:</a:t>
            </a:r>
            <a:r>
              <a:rPr lang="en-IN" dirty="0">
                <a:latin typeface="Times New Roman" panose="02020603050405020304" pitchFamily="18" charset="0"/>
                <a:cs typeface="Times New Roman" panose="02020603050405020304" pitchFamily="18" charset="0"/>
              </a:rPr>
              <a:t> Slow fan, less air, saves power.</a:t>
            </a:r>
          </a:p>
          <a:p>
            <a:pPr lvl="1" algn="just"/>
            <a:r>
              <a:rPr lang="en-IN" b="1" dirty="0">
                <a:latin typeface="Times New Roman" panose="02020603050405020304" pitchFamily="18" charset="0"/>
                <a:cs typeface="Times New Roman" panose="02020603050405020304" pitchFamily="18" charset="0"/>
              </a:rPr>
              <a:t>Medium RPMs:</a:t>
            </a:r>
            <a:r>
              <a:rPr lang="en-IN" dirty="0">
                <a:latin typeface="Times New Roman" panose="02020603050405020304" pitchFamily="18" charset="0"/>
                <a:cs typeface="Times New Roman" panose="02020603050405020304" pitchFamily="18" charset="0"/>
              </a:rPr>
              <a:t> Moderate breeze.</a:t>
            </a:r>
          </a:p>
          <a:p>
            <a:pPr lvl="1" algn="just"/>
            <a:r>
              <a:rPr lang="en-IN" b="1" dirty="0">
                <a:latin typeface="Times New Roman" panose="02020603050405020304" pitchFamily="18" charset="0"/>
                <a:cs typeface="Times New Roman" panose="02020603050405020304" pitchFamily="18" charset="0"/>
              </a:rPr>
              <a:t>High RPM:</a:t>
            </a:r>
            <a:r>
              <a:rPr lang="en-IN" dirty="0">
                <a:latin typeface="Times New Roman" panose="02020603050405020304" pitchFamily="18" charset="0"/>
                <a:cs typeface="Times New Roman" panose="02020603050405020304" pitchFamily="18" charset="0"/>
              </a:rPr>
              <a:t> Strong breeze, higher airflow.</a:t>
            </a:r>
          </a:p>
          <a:p>
            <a:pPr algn="just"/>
            <a:endParaRPr lang="en-IN" dirty="0">
              <a:latin typeface="Times New Roman" panose="02020603050405020304" pitchFamily="18" charset="0"/>
              <a:cs typeface="Times New Roman" panose="02020603050405020304" pitchFamily="18" charset="0"/>
            </a:endParaRPr>
          </a:p>
        </p:txBody>
      </p:sp>
      <p:sp>
        <p:nvSpPr>
          <p:cNvPr id="7" name="Slide Number Placeholder 1">
            <a:extLst>
              <a:ext uri="{FF2B5EF4-FFF2-40B4-BE49-F238E27FC236}">
                <a16:creationId xmlns:a16="http://schemas.microsoft.com/office/drawing/2014/main" id="{50193A60-9BF0-7BA7-424C-6BDAB65BB04D}"/>
              </a:ext>
            </a:extLst>
          </p:cNvPr>
          <p:cNvSpPr>
            <a:spLocks noGrp="1"/>
          </p:cNvSpPr>
          <p:nvPr>
            <p:ph type="sldNum" sz="quarter" idx="12"/>
          </p:nvPr>
        </p:nvSpPr>
        <p:spPr>
          <a:xfrm>
            <a:off x="7239000" y="6400800"/>
            <a:ext cx="1905000" cy="314325"/>
          </a:xfrm>
        </p:spPr>
        <p:txBody>
          <a:bodyPr/>
          <a:lstStyle/>
          <a:p>
            <a:pPr>
              <a:defRPr/>
            </a:pPr>
            <a:fld id="{CCE60E7C-9340-4E78-8FF1-5B9A5C8058C3}" type="slidenum">
              <a:rPr lang="en-US" smtClean="0"/>
              <a:pPr>
                <a:defRPr/>
              </a:pPr>
              <a:t>7</a:t>
            </a:fld>
            <a:endParaRPr lang="en-US" dirty="0"/>
          </a:p>
        </p:txBody>
      </p:sp>
    </p:spTree>
    <p:extLst>
      <p:ext uri="{BB962C8B-B14F-4D97-AF65-F5344CB8AC3E}">
        <p14:creationId xmlns:p14="http://schemas.microsoft.com/office/powerpoint/2010/main" val="1122587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193A60-9BF0-7BA7-424C-6BDAB65BB04D}"/>
              </a:ext>
            </a:extLst>
          </p:cNvPr>
          <p:cNvSpPr>
            <a:spLocks noGrp="1"/>
          </p:cNvSpPr>
          <p:nvPr>
            <p:ph type="sldNum" sz="quarter" idx="12"/>
          </p:nvPr>
        </p:nvSpPr>
        <p:spPr>
          <a:xfrm>
            <a:off x="7239000" y="6391275"/>
            <a:ext cx="1905000" cy="314325"/>
          </a:xfrm>
        </p:spPr>
        <p:txBody>
          <a:bodyPr/>
          <a:lstStyle/>
          <a:p>
            <a:pPr>
              <a:defRPr/>
            </a:pPr>
            <a:fld id="{CCE60E7C-9340-4E78-8FF1-5B9A5C8058C3}" type="slidenum">
              <a:rPr lang="en-US" smtClean="0"/>
              <a:pPr>
                <a:defRPr/>
              </a:pPr>
              <a:t>8</a:t>
            </a:fld>
            <a:endParaRPr lang="en-US" dirty="0"/>
          </a:p>
        </p:txBody>
      </p:sp>
      <p:sp>
        <p:nvSpPr>
          <p:cNvPr id="18" name="Title 1">
            <a:extLst>
              <a:ext uri="{FF2B5EF4-FFF2-40B4-BE49-F238E27FC236}">
                <a16:creationId xmlns:a16="http://schemas.microsoft.com/office/drawing/2014/main" id="{11C56C9A-4FB1-DBF2-2C43-9425D7F44487}"/>
              </a:ext>
            </a:extLst>
          </p:cNvPr>
          <p:cNvSpPr txBox="1">
            <a:spLocks/>
          </p:cNvSpPr>
          <p:nvPr/>
        </p:nvSpPr>
        <p:spPr>
          <a:xfrm>
            <a:off x="304800" y="128587"/>
            <a:ext cx="8610600" cy="629033"/>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2pPr>
            <a:lvl3pPr algn="ctr" rtl="0" eaLnBrk="0" fontAlgn="base" hangingPunct="0">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3pPr>
            <a:lvl4pPr algn="ctr" rtl="0" eaLnBrk="0" fontAlgn="base" hangingPunct="0">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4pPr>
            <a:lvl5pPr algn="ctr" rtl="0" eaLnBrk="0" fontAlgn="base" hangingPunct="0">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5pPr>
            <a:lvl6pPr marL="457200" algn="ctr" rtl="0" fontAlgn="base">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6pPr>
            <a:lvl7pPr marL="914400" algn="ctr" rtl="0" fontAlgn="base">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7pPr>
            <a:lvl8pPr marL="1371600" algn="ctr" rtl="0" fontAlgn="base">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8pPr>
            <a:lvl9pPr marL="1828800" algn="ctr" rtl="0" fontAlgn="base">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9pPr>
          </a:lstStyle>
          <a:p>
            <a:r>
              <a:rPr lang="en-US" sz="2800" b="1" kern="0" dirty="0">
                <a:solidFill>
                  <a:srgbClr val="FFC000"/>
                </a:solidFill>
                <a:latin typeface="Times New Roman" panose="02020603050405020304" pitchFamily="18" charset="0"/>
                <a:ea typeface="Cambria" panose="02040503050406030204" pitchFamily="18" charset="0"/>
                <a:cs typeface="Times New Roman" panose="02020603050405020304" pitchFamily="18" charset="0"/>
              </a:rPr>
              <a:t>RESULTS</a:t>
            </a:r>
            <a:endParaRPr lang="en-IN" sz="2800" kern="0" dirty="0"/>
          </a:p>
        </p:txBody>
      </p:sp>
      <p:pic>
        <p:nvPicPr>
          <p:cNvPr id="14" name="Picture 13" descr="E:\23341A0446\term paper ,mini project\WhatsApp Image 2025-09-21 at 11.43.14_c3879513.jpg">
            <a:extLst>
              <a:ext uri="{FF2B5EF4-FFF2-40B4-BE49-F238E27FC236}">
                <a16:creationId xmlns:a16="http://schemas.microsoft.com/office/drawing/2014/main" id="{0B667D35-6BD7-416C-BB1B-F22E71675BB3}"/>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7700" y="1143000"/>
            <a:ext cx="7924800" cy="5215385"/>
          </a:xfrm>
          <a:prstGeom prst="rect">
            <a:avLst/>
          </a:prstGeom>
          <a:noFill/>
          <a:ln>
            <a:noFill/>
          </a:ln>
        </p:spPr>
      </p:pic>
    </p:spTree>
    <p:extLst>
      <p:ext uri="{BB962C8B-B14F-4D97-AF65-F5344CB8AC3E}">
        <p14:creationId xmlns:p14="http://schemas.microsoft.com/office/powerpoint/2010/main" val="30093535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9E1FE63-18DA-B5D8-5BDC-17F56E7A7EAA}"/>
              </a:ext>
            </a:extLst>
          </p:cNvPr>
          <p:cNvSpPr>
            <a:spLocks noGrp="1"/>
          </p:cNvSpPr>
          <p:nvPr>
            <p:ph type="sldNum" sz="quarter" idx="12"/>
          </p:nvPr>
        </p:nvSpPr>
        <p:spPr>
          <a:xfrm>
            <a:off x="7239000" y="6391275"/>
            <a:ext cx="1905000" cy="314325"/>
          </a:xfrm>
        </p:spPr>
        <p:txBody>
          <a:bodyPr/>
          <a:lstStyle/>
          <a:p>
            <a:pPr>
              <a:defRPr/>
            </a:pPr>
            <a:fld id="{CCE60E7C-9340-4E78-8FF1-5B9A5C8058C3}" type="slidenum">
              <a:rPr lang="en-US" smtClean="0"/>
              <a:pPr>
                <a:defRPr/>
              </a:pPr>
              <a:t>9</a:t>
            </a:fld>
            <a:endParaRPr lang="en-US" dirty="0"/>
          </a:p>
        </p:txBody>
      </p:sp>
      <p:sp>
        <p:nvSpPr>
          <p:cNvPr id="3" name="TextBox 2">
            <a:extLst>
              <a:ext uri="{FF2B5EF4-FFF2-40B4-BE49-F238E27FC236}">
                <a16:creationId xmlns:a16="http://schemas.microsoft.com/office/drawing/2014/main" id="{2402ED5E-A9F2-C545-4993-EA89231694EC}"/>
              </a:ext>
            </a:extLst>
          </p:cNvPr>
          <p:cNvSpPr txBox="1"/>
          <p:nvPr/>
        </p:nvSpPr>
        <p:spPr>
          <a:xfrm>
            <a:off x="914400" y="1119924"/>
            <a:ext cx="7696200" cy="4662815"/>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The developed system successfully automates the ceiling fan speed based on room temperature changes. It eliminates the need for manual adjustments during the night, enhancing user comfort. By using a capacitive regulator, the design achieves significant energy savings compared to resistive control. The servo-based mechanism ensures smooth and accurate speed transitions.</a:t>
            </a:r>
          </a:p>
          <a:p>
            <a:pPr algn="just">
              <a:lnSpc>
                <a:spcPct val="150000"/>
              </a:lnSpc>
            </a:pPr>
            <a:r>
              <a:rPr lang="en-US" dirty="0">
                <a:latin typeface="Times New Roman" panose="02020603050405020304" pitchFamily="18" charset="0"/>
                <a:cs typeface="Times New Roman" panose="02020603050405020304" pitchFamily="18" charset="0"/>
              </a:rPr>
              <a:t>Testing proved that the fan speed adapts effectively to varying temperature levels.</a:t>
            </a:r>
          </a:p>
          <a:p>
            <a:pPr algn="just">
              <a:lnSpc>
                <a:spcPct val="150000"/>
              </a:lnSpc>
            </a:pPr>
            <a:r>
              <a:rPr lang="en-US" dirty="0">
                <a:latin typeface="Times New Roman" panose="02020603050405020304" pitchFamily="18" charset="0"/>
                <a:cs typeface="Times New Roman" panose="02020603050405020304" pitchFamily="18" charset="0"/>
              </a:rPr>
              <a:t>The Term paper demonstrates how simple microcontroller systems can solve daily-life problems efficiently.</a:t>
            </a:r>
          </a:p>
          <a:p>
            <a:pPr algn="just">
              <a:lnSpc>
                <a:spcPct val="150000"/>
              </a:lnSpc>
            </a:pPr>
            <a:r>
              <a:rPr lang="en-US" dirty="0">
                <a:latin typeface="Times New Roman" panose="02020603050405020304" pitchFamily="18" charset="0"/>
                <a:cs typeface="Times New Roman" panose="02020603050405020304" pitchFamily="18" charset="0"/>
              </a:rPr>
              <a:t>It is affordable, easy to implement, and suitable for typical Indian households.</a:t>
            </a:r>
          </a:p>
          <a:p>
            <a:pPr algn="just">
              <a:lnSpc>
                <a:spcPct val="150000"/>
              </a:lnSpc>
            </a:pPr>
            <a:r>
              <a:rPr lang="en-US" dirty="0">
                <a:latin typeface="Times New Roman" panose="02020603050405020304" pitchFamily="18" charset="0"/>
                <a:cs typeface="Times New Roman" panose="02020603050405020304" pitchFamily="18" charset="0"/>
              </a:rPr>
              <a:t>Future improvements may include </a:t>
            </a:r>
            <a:r>
              <a:rPr lang="en-US" dirty="0" err="1">
                <a:latin typeface="Times New Roman" panose="02020603050405020304" pitchFamily="18" charset="0"/>
                <a:cs typeface="Times New Roman" panose="02020603050405020304" pitchFamily="18" charset="0"/>
              </a:rPr>
              <a:t>builtin</a:t>
            </a:r>
            <a:r>
              <a:rPr lang="en-US" dirty="0">
                <a:latin typeface="Times New Roman" panose="02020603050405020304" pitchFamily="18" charset="0"/>
                <a:cs typeface="Times New Roman" panose="02020603050405020304" pitchFamily="18" charset="0"/>
              </a:rPr>
              <a:t> model or smartphone-based control for added convenience.</a:t>
            </a:r>
            <a:endParaRPr lang="en-IN"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F5DEA5B6-C5D2-A8CB-E00C-D6DD1DBE0A23}"/>
              </a:ext>
            </a:extLst>
          </p:cNvPr>
          <p:cNvSpPr txBox="1">
            <a:spLocks/>
          </p:cNvSpPr>
          <p:nvPr/>
        </p:nvSpPr>
        <p:spPr>
          <a:xfrm>
            <a:off x="304800" y="128587"/>
            <a:ext cx="8610600" cy="629033"/>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2pPr>
            <a:lvl3pPr algn="ctr" rtl="0" eaLnBrk="0" fontAlgn="base" hangingPunct="0">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3pPr>
            <a:lvl4pPr algn="ctr" rtl="0" eaLnBrk="0" fontAlgn="base" hangingPunct="0">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4pPr>
            <a:lvl5pPr algn="ctr" rtl="0" eaLnBrk="0" fontAlgn="base" hangingPunct="0">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5pPr>
            <a:lvl6pPr marL="457200" algn="ctr" rtl="0" fontAlgn="base">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6pPr>
            <a:lvl7pPr marL="914400" algn="ctr" rtl="0" fontAlgn="base">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7pPr>
            <a:lvl8pPr marL="1371600" algn="ctr" rtl="0" fontAlgn="base">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8pPr>
            <a:lvl9pPr marL="1828800" algn="ctr" rtl="0" fontAlgn="base">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9pPr>
          </a:lstStyle>
          <a:p>
            <a:r>
              <a:rPr lang="en-US" sz="2800" b="1" kern="0" dirty="0">
                <a:solidFill>
                  <a:srgbClr val="FFC000"/>
                </a:solidFill>
                <a:latin typeface="Times New Roman" panose="02020603050405020304" pitchFamily="18" charset="0"/>
                <a:ea typeface="Cambria" panose="02040503050406030204" pitchFamily="18" charset="0"/>
                <a:cs typeface="Times New Roman" panose="02020603050405020304" pitchFamily="18" charset="0"/>
              </a:rPr>
              <a:t>CONCLUSION</a:t>
            </a:r>
            <a:endParaRPr lang="en-IN" sz="2800" kern="0" dirty="0"/>
          </a:p>
        </p:txBody>
      </p:sp>
    </p:spTree>
    <p:extLst>
      <p:ext uri="{BB962C8B-B14F-4D97-AF65-F5344CB8AC3E}">
        <p14:creationId xmlns:p14="http://schemas.microsoft.com/office/powerpoint/2010/main" val="35118264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D4662B0-DEFD-F9AA-42BD-5B365CE6ABC6}"/>
              </a:ext>
            </a:extLst>
          </p:cNvPr>
          <p:cNvSpPr>
            <a:spLocks noGrp="1"/>
          </p:cNvSpPr>
          <p:nvPr>
            <p:ph type="sldNum" sz="quarter" idx="12"/>
          </p:nvPr>
        </p:nvSpPr>
        <p:spPr>
          <a:xfrm>
            <a:off x="7239000" y="6400800"/>
            <a:ext cx="1905000" cy="314325"/>
          </a:xfrm>
        </p:spPr>
        <p:txBody>
          <a:bodyPr/>
          <a:lstStyle/>
          <a:p>
            <a:pPr>
              <a:defRPr/>
            </a:pPr>
            <a:fld id="{CCE60E7C-9340-4E78-8FF1-5B9A5C8058C3}" type="slidenum">
              <a:rPr lang="en-US" smtClean="0"/>
              <a:pPr>
                <a:defRPr/>
              </a:pPr>
              <a:t>10</a:t>
            </a:fld>
            <a:endParaRPr lang="en-US" dirty="0"/>
          </a:p>
        </p:txBody>
      </p:sp>
      <p:sp>
        <p:nvSpPr>
          <p:cNvPr id="3" name="Title 1">
            <a:extLst>
              <a:ext uri="{FF2B5EF4-FFF2-40B4-BE49-F238E27FC236}">
                <a16:creationId xmlns:a16="http://schemas.microsoft.com/office/drawing/2014/main" id="{62BEA5D2-E3EE-A910-71E0-1D55B54FACDD}"/>
              </a:ext>
            </a:extLst>
          </p:cNvPr>
          <p:cNvSpPr txBox="1">
            <a:spLocks/>
          </p:cNvSpPr>
          <p:nvPr/>
        </p:nvSpPr>
        <p:spPr>
          <a:xfrm>
            <a:off x="304800" y="50766"/>
            <a:ext cx="8610600" cy="629033"/>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2pPr>
            <a:lvl3pPr algn="ctr" rtl="0" eaLnBrk="0" fontAlgn="base" hangingPunct="0">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3pPr>
            <a:lvl4pPr algn="ctr" rtl="0" eaLnBrk="0" fontAlgn="base" hangingPunct="0">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4pPr>
            <a:lvl5pPr algn="ctr" rtl="0" eaLnBrk="0" fontAlgn="base" hangingPunct="0">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5pPr>
            <a:lvl6pPr marL="457200" algn="ctr" rtl="0" fontAlgn="base">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6pPr>
            <a:lvl7pPr marL="914400" algn="ctr" rtl="0" fontAlgn="base">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7pPr>
            <a:lvl8pPr marL="1371600" algn="ctr" rtl="0" fontAlgn="base">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8pPr>
            <a:lvl9pPr marL="1828800" algn="ctr" rtl="0" fontAlgn="base">
              <a:spcBef>
                <a:spcPct val="0"/>
              </a:spcBef>
              <a:spcAft>
                <a:spcPct val="0"/>
              </a:spcAft>
              <a:defRPr sz="4400">
                <a:solidFill>
                  <a:schemeClr val="tx2"/>
                </a:solidFill>
                <a:latin typeface="Arial" panose="020B0604020202020204" pitchFamily="34" charset="0"/>
                <a:ea typeface="MS PGothic" panose="020B0600070205080204" charset="-128"/>
                <a:cs typeface="MS PGothic" panose="020B0600070205080204" charset="-128"/>
              </a:defRPr>
            </a:lvl9pPr>
          </a:lstStyle>
          <a:p>
            <a:r>
              <a:rPr lang="en-US" sz="2800" b="1" kern="0" dirty="0">
                <a:solidFill>
                  <a:srgbClr val="FFC000"/>
                </a:solidFill>
                <a:latin typeface="Times New Roman" panose="02020603050405020304" pitchFamily="18" charset="0"/>
                <a:ea typeface="Cambria" panose="02040503050406030204" pitchFamily="18" charset="0"/>
                <a:cs typeface="Times New Roman" panose="02020603050405020304" pitchFamily="18" charset="0"/>
              </a:rPr>
              <a:t>REFERENCES</a:t>
            </a:r>
            <a:endParaRPr lang="en-IN" sz="2800" kern="0" dirty="0"/>
          </a:p>
        </p:txBody>
      </p:sp>
      <p:sp>
        <p:nvSpPr>
          <p:cNvPr id="4" name="TextBox 3">
            <a:extLst>
              <a:ext uri="{FF2B5EF4-FFF2-40B4-BE49-F238E27FC236}">
                <a16:creationId xmlns:a16="http://schemas.microsoft.com/office/drawing/2014/main" id="{3AB88B4E-B457-DF88-C6DF-4FE9470A899E}"/>
              </a:ext>
            </a:extLst>
          </p:cNvPr>
          <p:cNvSpPr txBox="1"/>
          <p:nvPr/>
        </p:nvSpPr>
        <p:spPr>
          <a:xfrm>
            <a:off x="533400" y="990600"/>
            <a:ext cx="8229600" cy="5875904"/>
          </a:xfrm>
          <a:prstGeom prst="rect">
            <a:avLst/>
          </a:prstGeom>
          <a:noFill/>
        </p:spPr>
        <p:txBody>
          <a:bodyPr wrap="square" rtlCol="0">
            <a:spAutoFit/>
          </a:bodyPr>
          <a:lstStyle/>
          <a:p>
            <a:pPr algn="just">
              <a:lnSpc>
                <a:spcPct val="150000"/>
              </a:lnSpc>
            </a:pPr>
            <a:r>
              <a:rPr lang="en-IN" sz="1400" dirty="0">
                <a:latin typeface="Times New Roman" panose="02020603050405020304" pitchFamily="18" charset="0"/>
                <a:cs typeface="Times New Roman" panose="02020603050405020304" pitchFamily="18" charset="0"/>
              </a:rPr>
              <a:t>[1] S. </a:t>
            </a:r>
            <a:r>
              <a:rPr lang="en-IN" sz="1400" dirty="0" err="1">
                <a:latin typeface="Times New Roman" panose="02020603050405020304" pitchFamily="18" charset="0"/>
                <a:cs typeface="Times New Roman" panose="02020603050405020304" pitchFamily="18" charset="0"/>
              </a:rPr>
              <a:t>Ragul</a:t>
            </a:r>
            <a:r>
              <a:rPr lang="en-IN" sz="1400" dirty="0">
                <a:latin typeface="Times New Roman" panose="02020603050405020304" pitchFamily="18" charset="0"/>
                <a:cs typeface="Times New Roman" panose="02020603050405020304" pitchFamily="18" charset="0"/>
              </a:rPr>
              <a:t>, S. </a:t>
            </a:r>
            <a:r>
              <a:rPr lang="en-IN" sz="1400" dirty="0" err="1">
                <a:latin typeface="Times New Roman" panose="02020603050405020304" pitchFamily="18" charset="0"/>
                <a:cs typeface="Times New Roman" panose="02020603050405020304" pitchFamily="18" charset="0"/>
              </a:rPr>
              <a:t>Yuvaraj</a:t>
            </a:r>
            <a:r>
              <a:rPr lang="en-IN" sz="1400" dirty="0">
                <a:latin typeface="Times New Roman" panose="02020603050405020304" pitchFamily="18" charset="0"/>
                <a:cs typeface="Times New Roman" panose="02020603050405020304" pitchFamily="18" charset="0"/>
              </a:rPr>
              <a:t>, V. </a:t>
            </a:r>
            <a:r>
              <a:rPr lang="en-IN" sz="1400" dirty="0" err="1">
                <a:latin typeface="Times New Roman" panose="02020603050405020304" pitchFamily="18" charset="0"/>
                <a:cs typeface="Times New Roman" panose="02020603050405020304" pitchFamily="18" charset="0"/>
              </a:rPr>
              <a:t>Vijayabalan</a:t>
            </a:r>
            <a:r>
              <a:rPr lang="en-IN" sz="1400" dirty="0">
                <a:latin typeface="Times New Roman" panose="02020603050405020304" pitchFamily="18" charset="0"/>
                <a:cs typeface="Times New Roman" panose="02020603050405020304" pitchFamily="18" charset="0"/>
              </a:rPr>
              <a:t>, and B. </a:t>
            </a:r>
            <a:r>
              <a:rPr lang="en-IN" sz="1400" dirty="0" err="1">
                <a:latin typeface="Times New Roman" panose="02020603050405020304" pitchFamily="18" charset="0"/>
                <a:cs typeface="Times New Roman" panose="02020603050405020304" pitchFamily="18" charset="0"/>
              </a:rPr>
              <a:t>Venkatasamy</a:t>
            </a:r>
            <a:r>
              <a:rPr lang="en-IN" sz="1400" dirty="0">
                <a:latin typeface="Times New Roman" panose="02020603050405020304" pitchFamily="18" charset="0"/>
                <a:cs typeface="Times New Roman" panose="02020603050405020304" pitchFamily="18" charset="0"/>
              </a:rPr>
              <a:t>, “Design and implementation of automatic speed control of ceiling fan through PWM technique with optocoupler to reduce energy consumption,” in Proc. 3rd Int. Conf. Computer Science and Software Engineering (IC3SE), IEEE, 2024, </a:t>
            </a:r>
            <a:r>
              <a:rPr lang="en-IN" sz="1400" dirty="0" err="1">
                <a:latin typeface="Times New Roman" panose="02020603050405020304" pitchFamily="18" charset="0"/>
                <a:cs typeface="Times New Roman" panose="02020603050405020304" pitchFamily="18" charset="0"/>
              </a:rPr>
              <a:t>doi</a:t>
            </a:r>
            <a:r>
              <a:rPr lang="en-IN" sz="1400" dirty="0">
                <a:latin typeface="Times New Roman" panose="02020603050405020304" pitchFamily="18" charset="0"/>
                <a:cs typeface="Times New Roman" panose="02020603050405020304" pitchFamily="18" charset="0"/>
              </a:rPr>
              <a:t>: 10.1109/IC3SE62002.2024.10593059.</a:t>
            </a:r>
          </a:p>
          <a:p>
            <a:pPr algn="just">
              <a:lnSpc>
                <a:spcPct val="150000"/>
              </a:lnSpc>
            </a:pPr>
            <a:r>
              <a:rPr lang="en-IN" sz="1400" dirty="0">
                <a:latin typeface="Times New Roman" panose="02020603050405020304" pitchFamily="18" charset="0"/>
                <a:cs typeface="Times New Roman" panose="02020603050405020304" pitchFamily="18" charset="0"/>
              </a:rPr>
              <a:t>[2] S. </a:t>
            </a:r>
            <a:r>
              <a:rPr lang="en-IN" sz="1400" dirty="0" err="1">
                <a:latin typeface="Times New Roman" panose="02020603050405020304" pitchFamily="18" charset="0"/>
                <a:cs typeface="Times New Roman" panose="02020603050405020304" pitchFamily="18" charset="0"/>
              </a:rPr>
              <a:t>Ragul</a:t>
            </a:r>
            <a:r>
              <a:rPr lang="en-IN" sz="1400" dirty="0">
                <a:latin typeface="Times New Roman" panose="02020603050405020304" pitchFamily="18" charset="0"/>
                <a:cs typeface="Times New Roman" panose="02020603050405020304" pitchFamily="18" charset="0"/>
              </a:rPr>
              <a:t>, S. </a:t>
            </a:r>
            <a:r>
              <a:rPr lang="en-IN" sz="1400" dirty="0" err="1">
                <a:latin typeface="Times New Roman" panose="02020603050405020304" pitchFamily="18" charset="0"/>
                <a:cs typeface="Times New Roman" panose="02020603050405020304" pitchFamily="18" charset="0"/>
              </a:rPr>
              <a:t>Yuvaraj</a:t>
            </a:r>
            <a:r>
              <a:rPr lang="en-IN" sz="1400" dirty="0">
                <a:latin typeface="Times New Roman" panose="02020603050405020304" pitchFamily="18" charset="0"/>
                <a:cs typeface="Times New Roman" panose="02020603050405020304" pitchFamily="18" charset="0"/>
              </a:rPr>
              <a:t>, V. </a:t>
            </a:r>
            <a:r>
              <a:rPr lang="en-IN" sz="1400" dirty="0" err="1">
                <a:latin typeface="Times New Roman" panose="02020603050405020304" pitchFamily="18" charset="0"/>
                <a:cs typeface="Times New Roman" panose="02020603050405020304" pitchFamily="18" charset="0"/>
              </a:rPr>
              <a:t>Vijayabalan</a:t>
            </a:r>
            <a:r>
              <a:rPr lang="en-IN" sz="1400" dirty="0">
                <a:latin typeface="Times New Roman" panose="02020603050405020304" pitchFamily="18" charset="0"/>
                <a:cs typeface="Times New Roman" panose="02020603050405020304" pitchFamily="18" charset="0"/>
              </a:rPr>
              <a:t>, and B. </a:t>
            </a:r>
            <a:r>
              <a:rPr lang="en-IN" sz="1400" dirty="0" err="1">
                <a:latin typeface="Times New Roman" panose="02020603050405020304" pitchFamily="18" charset="0"/>
                <a:cs typeface="Times New Roman" panose="02020603050405020304" pitchFamily="18" charset="0"/>
              </a:rPr>
              <a:t>Venkatasamy</a:t>
            </a:r>
            <a:r>
              <a:rPr lang="en-IN" sz="1400" dirty="0">
                <a:latin typeface="Times New Roman" panose="02020603050405020304" pitchFamily="18" charset="0"/>
                <a:cs typeface="Times New Roman" panose="02020603050405020304" pitchFamily="18" charset="0"/>
              </a:rPr>
              <a:t>, “IoT based smart controller for ceiling fan,” in Proc. 7th Int. Conf. Trends in Electronics and Informatics (ICOEI), IEEE, 2023, </a:t>
            </a:r>
            <a:r>
              <a:rPr lang="en-IN" sz="1400" dirty="0" err="1">
                <a:latin typeface="Times New Roman" panose="02020603050405020304" pitchFamily="18" charset="0"/>
                <a:cs typeface="Times New Roman" panose="02020603050405020304" pitchFamily="18" charset="0"/>
              </a:rPr>
              <a:t>doi</a:t>
            </a:r>
            <a:r>
              <a:rPr lang="en-IN" sz="1400" dirty="0">
                <a:latin typeface="Times New Roman" panose="02020603050405020304" pitchFamily="18" charset="0"/>
                <a:cs typeface="Times New Roman" panose="02020603050405020304" pitchFamily="18" charset="0"/>
              </a:rPr>
              <a:t>: 10.1109/ICOEI56765.2023.10125708.</a:t>
            </a:r>
          </a:p>
          <a:p>
            <a:pPr algn="just">
              <a:lnSpc>
                <a:spcPct val="150000"/>
              </a:lnSpc>
            </a:pPr>
            <a:r>
              <a:rPr lang="en-IN" sz="1400" dirty="0">
                <a:latin typeface="Times New Roman" panose="02020603050405020304" pitchFamily="18" charset="0"/>
                <a:cs typeface="Times New Roman" panose="02020603050405020304" pitchFamily="18" charset="0"/>
              </a:rPr>
              <a:t>[3] S. Das, S. Pal, T. Mukhopadhyay, and S. Nath, “Automatic temperature controlled fan,” Int. J. Recent Research in Electrical and Electronics Engineering, vol. 11, no. 3, 2024, </a:t>
            </a:r>
            <a:r>
              <a:rPr lang="en-IN" sz="1400" dirty="0" err="1">
                <a:latin typeface="Times New Roman" panose="02020603050405020304" pitchFamily="18" charset="0"/>
                <a:cs typeface="Times New Roman" panose="02020603050405020304" pitchFamily="18" charset="0"/>
              </a:rPr>
              <a:t>doi</a:t>
            </a:r>
            <a:r>
              <a:rPr lang="en-IN" sz="1400" dirty="0">
                <a:latin typeface="Times New Roman" panose="02020603050405020304" pitchFamily="18" charset="0"/>
                <a:cs typeface="Times New Roman" panose="02020603050405020304" pitchFamily="18" charset="0"/>
              </a:rPr>
              <a:t>: 10.5281/zenodo.13353749.</a:t>
            </a:r>
          </a:p>
          <a:p>
            <a:pPr algn="just">
              <a:lnSpc>
                <a:spcPct val="150000"/>
              </a:lnSpc>
            </a:pPr>
            <a:r>
              <a:rPr lang="en-IN" sz="1400" dirty="0">
                <a:latin typeface="Times New Roman" panose="02020603050405020304" pitchFamily="18" charset="0"/>
                <a:cs typeface="Times New Roman" panose="02020603050405020304" pitchFamily="18" charset="0"/>
              </a:rPr>
              <a:t>[4] </a:t>
            </a:r>
            <a:r>
              <a:rPr lang="en-IN" sz="1400" dirty="0" err="1">
                <a:latin typeface="Times New Roman" panose="02020603050405020304" pitchFamily="18" charset="0"/>
                <a:cs typeface="Times New Roman" panose="02020603050405020304" pitchFamily="18" charset="0"/>
              </a:rPr>
              <a:t>Tinkercad</a:t>
            </a:r>
            <a:r>
              <a:rPr lang="en-IN" sz="1400" dirty="0">
                <a:latin typeface="Times New Roman" panose="02020603050405020304" pitchFamily="18" charset="0"/>
                <a:cs typeface="Times New Roman" panose="02020603050405020304" pitchFamily="18" charset="0"/>
              </a:rPr>
              <a:t>, “Brilliant </a:t>
            </a:r>
            <a:r>
              <a:rPr lang="en-IN" sz="1400" dirty="0" err="1">
                <a:latin typeface="Times New Roman" panose="02020603050405020304" pitchFamily="18" charset="0"/>
                <a:cs typeface="Times New Roman" panose="02020603050405020304" pitchFamily="18" charset="0"/>
              </a:rPr>
              <a:t>Kup</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Wluff</a:t>
            </a:r>
            <a:r>
              <a:rPr lang="en-IN" sz="1400" dirty="0">
                <a:latin typeface="Times New Roman" panose="02020603050405020304" pitchFamily="18" charset="0"/>
                <a:cs typeface="Times New Roman" panose="02020603050405020304" pitchFamily="18" charset="0"/>
              </a:rPr>
              <a:t> circuit design,” </a:t>
            </a:r>
            <a:r>
              <a:rPr lang="en-IN" sz="1400" dirty="0" err="1">
                <a:latin typeface="Times New Roman" panose="02020603050405020304" pitchFamily="18" charset="0"/>
                <a:cs typeface="Times New Roman" panose="02020603050405020304" pitchFamily="18" charset="0"/>
              </a:rPr>
              <a:t>Tinkercad</a:t>
            </a:r>
            <a:r>
              <a:rPr lang="en-IN" sz="1400" dirty="0">
                <a:latin typeface="Times New Roman" panose="02020603050405020304" pitchFamily="18" charset="0"/>
                <a:cs typeface="Times New Roman" panose="02020603050405020304" pitchFamily="18" charset="0"/>
              </a:rPr>
              <a:t>, [Online]. Available: https://www.tinkercad.com/things/2HP8O5T4YkD-brilliant-kup-wluff/editel. Accessed: 2024.</a:t>
            </a:r>
          </a:p>
          <a:p>
            <a:pPr algn="just">
              <a:lnSpc>
                <a:spcPct val="150000"/>
              </a:lnSpc>
            </a:pPr>
            <a:r>
              <a:rPr lang="en-IN" sz="1400" dirty="0">
                <a:latin typeface="Times New Roman" panose="02020603050405020304" pitchFamily="18" charset="0"/>
                <a:cs typeface="Times New Roman" panose="02020603050405020304" pitchFamily="18" charset="0"/>
              </a:rPr>
              <a:t>[5] Stack Exchange, “Fan speed control using relays,” Electronics Stack Exchange, 2022. [Online]. Available: https://electronics.stackexchange.com/questions/637693/fan-speed-controlusing-relays.</a:t>
            </a:r>
          </a:p>
          <a:p>
            <a:pPr algn="just">
              <a:lnSpc>
                <a:spcPct val="150000"/>
              </a:lnSpc>
            </a:pPr>
            <a:r>
              <a:rPr lang="en-IN" sz="1400" dirty="0">
                <a:latin typeface="Times New Roman" panose="02020603050405020304" pitchFamily="18" charset="0"/>
                <a:cs typeface="Times New Roman" panose="02020603050405020304" pitchFamily="18" charset="0"/>
              </a:rPr>
              <a:t>[6] Open-</a:t>
            </a:r>
            <a:r>
              <a:rPr lang="en-IN" sz="1400" dirty="0" err="1">
                <a:latin typeface="Times New Roman" panose="02020603050405020304" pitchFamily="18" charset="0"/>
                <a:cs typeface="Times New Roman" panose="02020603050405020304" pitchFamily="18" charset="0"/>
              </a:rPr>
              <a:t>Meteo</a:t>
            </a:r>
            <a:r>
              <a:rPr lang="en-IN" sz="1400" dirty="0">
                <a:latin typeface="Times New Roman" panose="02020603050405020304" pitchFamily="18" charset="0"/>
                <a:cs typeface="Times New Roman" panose="02020603050405020304" pitchFamily="18" charset="0"/>
              </a:rPr>
              <a:t>, “Historical weather API,” Open-</a:t>
            </a:r>
            <a:r>
              <a:rPr lang="en-IN" sz="1400" dirty="0" err="1">
                <a:latin typeface="Times New Roman" panose="02020603050405020304" pitchFamily="18" charset="0"/>
                <a:cs typeface="Times New Roman" panose="02020603050405020304" pitchFamily="18" charset="0"/>
              </a:rPr>
              <a:t>Meteo</a:t>
            </a:r>
            <a:r>
              <a:rPr lang="en-IN" sz="1400" dirty="0">
                <a:latin typeface="Times New Roman" panose="02020603050405020304" pitchFamily="18" charset="0"/>
                <a:cs typeface="Times New Roman" panose="02020603050405020304" pitchFamily="18" charset="0"/>
              </a:rPr>
              <a:t>, [Online]. Available: https://open-meteo.com/en/docs/historical-weather-api.</a:t>
            </a:r>
          </a:p>
          <a:p>
            <a:pPr algn="just">
              <a:lnSpc>
                <a:spcPct val="150000"/>
              </a:lnSpc>
            </a:pPr>
            <a:r>
              <a:rPr lang="en-IN" sz="1400" dirty="0">
                <a:latin typeface="Times New Roman" panose="02020603050405020304" pitchFamily="18" charset="0"/>
                <a:cs typeface="Times New Roman" panose="02020603050405020304" pitchFamily="18" charset="0"/>
              </a:rPr>
              <a:t>[7] A. K. Patil, “Design and implementation of Arduino based temperature sensing device,” Int. J. Research Publication and Reviews (IJRPR), vol. 3, no. 12, pp. 1407–1409, Dec. 2022.</a:t>
            </a:r>
          </a:p>
          <a:p>
            <a:pPr marL="285750" indent="-285750" algn="just">
              <a:lnSpc>
                <a:spcPct val="150000"/>
              </a:lnSpc>
              <a:buFont typeface="Arial" panose="020B0604020202020204" pitchFamily="34" charset="0"/>
              <a:buChar char="•"/>
            </a:pPr>
            <a:endParaRPr lang="en-IN" sz="14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813334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7239000" y="6391275"/>
            <a:ext cx="1905000" cy="314325"/>
          </a:xfrm>
        </p:spPr>
        <p:txBody>
          <a:bodyPr/>
          <a:lstStyle/>
          <a:p>
            <a:pPr>
              <a:defRPr/>
            </a:pPr>
            <a:fld id="{CCE60E7C-9340-4E78-8FF1-5B9A5C8058C3}" type="slidenum">
              <a:rPr lang="en-US" smtClean="0">
                <a:latin typeface="Times New Roman" panose="02020603050405020304" pitchFamily="18" charset="0"/>
                <a:cs typeface="Times New Roman" panose="02020603050405020304" pitchFamily="18" charset="0"/>
              </a:rPr>
              <a:pPr>
                <a:defRPr/>
              </a:pPr>
              <a:t>11</a:t>
            </a:fld>
            <a:endParaRPr lang="en-US" dirty="0">
              <a:latin typeface="Times New Roman" panose="02020603050405020304" pitchFamily="18" charset="0"/>
              <a:cs typeface="Times New Roman" panose="02020603050405020304"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990600"/>
            <a:ext cx="7666548" cy="5427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299068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s://sdmntpraustraliaeast.oaiusercontent.com/files/00000000-1560-61fa-b7bc-50f318a59bbd/raw?se=2025-10-07T17%3A37%3A28Z&amp;sp=r&amp;sv=2024-08-04&amp;sr=b&amp;scid=d2306204-bb60-5768-8246-9b07c6b787d2&amp;skoid=f8b66c09-1aa0-4801-9884-173c5cef2b8c&amp;sktid=a48cca56-e6da-484e-a814-9c849652bcb3&amp;skt=2025-10-06T20%3A45%3A05Z&amp;ske=2025-10-07T20%3A45%3A05Z&amp;sks=b&amp;skv=2024-08-04&amp;sig=bRM2G/HFT7WDgiOp14UX1GE%2BjVCsnRXvQEZ/%2Bf29gIg%3D">
            <a:extLst>
              <a:ext uri="{FF2B5EF4-FFF2-40B4-BE49-F238E27FC236}">
                <a16:creationId xmlns:a16="http://schemas.microsoft.com/office/drawing/2014/main" id="{E785EF56-3FE6-4C5B-93D7-A4121AC9CF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4751" y="914400"/>
            <a:ext cx="8094497" cy="533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6432120"/>
      </p:ext>
    </p:extLst>
  </p:cSld>
  <p:clrMapOvr>
    <a:masterClrMapping/>
  </p:clrMapOvr>
</p:sld>
</file>

<file path=ppt/theme/theme1.xml><?xml version="1.0" encoding="utf-8"?>
<a:theme xmlns:a="http://schemas.openxmlformats.org/drawingml/2006/main" name="MIS Template">
  <a:themeElements>
    <a:clrScheme name="MIS 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MIS Template">
      <a:majorFont>
        <a:latin typeface="Arial"/>
        <a:ea typeface="ＭＳ Ｐゴシック"/>
        <a:cs typeface="ＭＳ Ｐゴシック"/>
      </a:majorFont>
      <a:minorFont>
        <a:latin typeface="Arial"/>
        <a:ea typeface="ＭＳ Ｐゴシック"/>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333399"/>
        </a:solidFill>
        <a:ln w="9525" cap="flat" cmpd="sng" algn="ctr">
          <a:no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2400" b="0" i="0" u="none" strike="noStrike" cap="none" normalizeH="0" baseline="0" smtClean="0">
            <a:ln>
              <a:noFill/>
            </a:ln>
            <a:solidFill>
              <a:srgbClr val="000066"/>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rgbClr val="333399"/>
        </a:solidFill>
        <a:ln w="9525" cap="flat" cmpd="sng" algn="ctr">
          <a:no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2400" b="0" i="0" u="none" strike="noStrike" cap="none" normalizeH="0" baseline="0" smtClean="0">
            <a:ln>
              <a:noFill/>
            </a:ln>
            <a:solidFill>
              <a:srgbClr val="000066"/>
            </a:solidFill>
            <a:effectLst/>
            <a:latin typeface="Times New Roman" panose="02020603050405020304" pitchFamily="18" charset="0"/>
          </a:defRPr>
        </a:defPPr>
      </a:lstStyle>
    </a:lnDef>
  </a:objectDefaults>
  <a:extraClrSchemeLst>
    <a:extraClrScheme>
      <a:clrScheme name="MIS 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MIS 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MIS 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MIS 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MIS 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MIS 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MIS Template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MIS 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MIS 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MIS 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MIS 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MIS 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7914</TotalTime>
  <Words>968</Words>
  <Application>Microsoft Office PowerPoint</Application>
  <PresentationFormat>On-screen Show (4:3)</PresentationFormat>
  <Paragraphs>92</Paragraphs>
  <Slides>12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Times New Roman</vt:lpstr>
      <vt:lpstr>Verdana</vt:lpstr>
      <vt:lpstr>MIS Template</vt:lpstr>
      <vt:lpstr>PowerPoint Presentation</vt:lpstr>
      <vt:lpstr>ABSTRACT</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Publication Reward</dc:title>
  <dc:creator>Admin</dc:creator>
  <cp:lastModifiedBy>NanoMatEs 015</cp:lastModifiedBy>
  <cp:revision>672</cp:revision>
  <dcterms:created xsi:type="dcterms:W3CDTF">2017-10-27T12:24:00Z</dcterms:created>
  <dcterms:modified xsi:type="dcterms:W3CDTF">2026-01-02T01:33:57Z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B9263FD3374C4ED0AAE763D3B4AD67F0</vt:lpwstr>
  </property>
  <property fmtid="{D5CDD505-2E9C-101B-9397-08002B2CF9AE}" pid="3" name="KSOProductBuildVer">
    <vt:lpwstr>1033-11.2.0.11440</vt:lpwstr>
  </property>
</Properties>
</file>